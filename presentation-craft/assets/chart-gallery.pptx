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基线</c:v>
                </c:pt>
              </c:strCache>
            </c:strRef>
          </c:tx>
          <c:spPr>
            <a:solidFill>
              <a:srgbClr val="637B98"/>
            </a:solidFill>
            <a:ln w="31750">
              <a:solidFill>
                <a:srgbClr val="637B98"/>
              </a:solidFill>
              <a:prstDash val="dash"/>
            </a:ln>
          </c:spPr>
          <c:marker>
            <c:symbol val="square"/>
            <c:size val="7"/>
            <c:spPr>
              <a:solidFill>
                <a:srgbClr val="637B98"/>
              </a:solidFill>
              <a:ln>
                <a:solidFill>
                  <a:srgbClr val="637B98"/>
                </a:solidFill>
              </a:ln>
            </c:spPr>
          </c:marker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</c:v>
                </c:pt>
                <c:pt idx="1">
                  <c:v>62</c:v>
                </c:pt>
                <c:pt idx="2">
                  <c:v>69</c:v>
                </c:pt>
                <c:pt idx="3">
                  <c:v>73</c:v>
                </c:pt>
                <c:pt idx="4">
                  <c:v>75</c:v>
                </c:pt>
                <c:pt idx="5">
                  <c:v>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配置 B</c:v>
                </c:pt>
              </c:strCache>
            </c:strRef>
          </c:tx>
          <c:spPr>
            <a:solidFill>
              <a:srgbClr val="2764A5"/>
            </a:solidFill>
            <a:ln w="31750">
              <a:solidFill>
                <a:srgbClr val="2764A5"/>
              </a:solidFill>
            </a:ln>
          </c:spPr>
          <c:marker>
            <c:symbol val="circle"/>
            <c:size val="7"/>
            <c:spPr>
              <a:solidFill>
                <a:srgbClr val="2764A5"/>
              </a:solidFill>
              <a:ln>
                <a:solidFill>
                  <a:srgbClr val="2764A5"/>
                </a:solidFill>
              </a:ln>
            </c:spPr>
          </c:marker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</c:v>
                </c:pt>
                <c:pt idx="1">
                  <c:v>63</c:v>
                </c:pt>
                <c:pt idx="2">
                  <c:v>71</c:v>
                </c:pt>
                <c:pt idx="3">
                  <c:v>77</c:v>
                </c:pt>
                <c:pt idx="4">
                  <c:v>80</c:v>
                </c:pt>
                <c:pt idx="5">
                  <c:v>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>
                    <a:ea typeface="Microsoft YaHei"/>
                  </a:defRPr>
                </a:pPr>
                <a:r>
                  <a:rPr sz="1800" b="0">
                    <a:solidFill>
                      <a:srgbClr val="182B42"/>
                    </a:solidFill>
                    <a:latin typeface="Microsoft YaHei"/>
                    <a:ea typeface="Microsoft YaHei"/>
                  </a:rPr>
                  <a:t>检查点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BBC9D8"/>
            </a:solidFill>
          </a:ln>
        </c:spPr>
        <c:txPr>
          <a:bodyPr/>
          <a:lstStyle/>
          <a:p>
            <a:pPr>
              <a:defRPr sz="1800">
                <a:solidFill>
                  <a:srgbClr val="526276"/>
                </a:solidFill>
                <a:latin typeface="Microsoft YaHei"/>
                <a:ea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 w="8890">
              <a:solidFill>
                <a:srgbClr val="DCE4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ea typeface="Microsoft YaHei"/>
                  </a:defRPr>
                </a:pPr>
                <a:r>
                  <a:rPr sz="1800" b="0">
                    <a:solidFill>
                      <a:srgbClr val="182B42"/>
                    </a:solidFill>
                    <a:latin typeface="Microsoft YaHei"/>
                    <a:ea typeface="Microsoft YaHei"/>
                  </a:rPr>
                  <a:t>准确率 ↑ (%)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BBC9D8"/>
            </a:solidFill>
          </a:ln>
        </c:spPr>
        <c:txPr>
          <a:bodyPr/>
          <a:lstStyle/>
          <a:p>
            <a:pPr>
              <a:defRPr sz="1800">
                <a:solidFill>
                  <a:srgbClr val="526276"/>
                </a:solidFill>
                <a:latin typeface="Microsoft YaHei"/>
                <a:ea typeface="Microsoft YaHei"/>
              </a:defRPr>
            </a:pPr>
          </a:p>
        </c:txPr>
        <c:crossAx val="2118791784"/>
        <c:crosses val="autoZero"/>
        <c:majorUnit val="20.0"/>
      </c:valAx>
    </c:plotArea>
    <c:legend>
      <c:legendPos val="b"/>
      <c:layout/>
      <c:overlay val="0"/>
      <c:txPr>
        <a:bodyPr/>
        <a:lstStyle/>
        <a:p>
          <a:pPr>
            <a:defRPr sz="1800">
              <a:latin typeface="Microsoft YaHei"/>
              <a:ea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>
          <a:solidFill>
            <a:srgbClr val="182B42"/>
          </a:solidFill>
          <a:latin typeface="Microsoft YaHei"/>
          <a:ea typeface="Microsoft YaHei"/>
        </a:defRPr>
      </a:pPr>
      <a:endParaRPr lang="en-US">
        <a:ea typeface="Microsoft YaHei"/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基线</c:v>
                </c:pt>
              </c:strCache>
            </c:strRef>
          </c:tx>
          <c:spPr>
            <a:solidFill>
              <a:srgbClr val="637B98"/>
            </a:solidFill>
            <a:ln w="31750">
              <a:solidFill>
                <a:srgbClr val="637B98"/>
              </a:solidFill>
            </a:ln>
          </c:spPr>
          <c:cat>
            <c:strRef>
              <c:f>Sheet1!$A$2:$A$4</c:f>
              <c:strCache>
                <c:ptCount val="3"/>
                <c:pt idx="0">
                  <c:v>任务甲</c:v>
                </c:pt>
                <c:pt idx="1">
                  <c:v>任务乙</c:v>
                </c:pt>
                <c:pt idx="2">
                  <c:v>任务丙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72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配置 B</c:v>
                </c:pt>
              </c:strCache>
            </c:strRef>
          </c:tx>
          <c:spPr>
            <a:solidFill>
              <a:srgbClr val="2764A5"/>
            </a:solidFill>
            <a:ln w="31750">
              <a:solidFill>
                <a:srgbClr val="2764A5"/>
              </a:solidFill>
            </a:ln>
          </c:spPr>
          <c:cat>
            <c:strRef>
              <c:f>Sheet1!$A$2:$A$4</c:f>
              <c:strCache>
                <c:ptCount val="3"/>
                <c:pt idx="0">
                  <c:v>任务甲</c:v>
                </c:pt>
                <c:pt idx="1">
                  <c:v>任务乙</c:v>
                </c:pt>
                <c:pt idx="2">
                  <c:v>任务丙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</c:v>
                </c:pt>
                <c:pt idx="1">
                  <c:v>74</c:v>
                </c:pt>
                <c:pt idx="2">
                  <c:v>76</c:v>
                </c:pt>
              </c:numCache>
            </c:numRef>
          </c:val>
        </c:ser>
        <c:dLbls>
          <c:txPr>
            <a:bodyPr/>
            <a:lstStyle/>
            <a:p>
              <a:pPr>
                <a:defRPr sz="1800"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BBC9D8"/>
            </a:solidFill>
          </a:ln>
        </c:spPr>
        <c:txPr>
          <a:bodyPr/>
          <a:lstStyle/>
          <a:p>
            <a:pPr>
              <a:defRPr sz="1800">
                <a:solidFill>
                  <a:srgbClr val="526276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8890">
              <a:solidFill>
                <a:srgbClr val="DCE4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ea typeface="Microsoft YaHei"/>
                  </a:defRPr>
                </a:pPr>
                <a:r>
                  <a:rPr sz="1800" b="0">
                    <a:solidFill>
                      <a:srgbClr val="182B42"/>
                    </a:solidFill>
                    <a:latin typeface="Microsoft YaHei"/>
                    <a:ea typeface="Microsoft YaHei"/>
                  </a:rPr>
                  <a:t>准确率 ↑ (%)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BBC9D8"/>
            </a:solidFill>
          </a:ln>
        </c:spPr>
        <c:txPr>
          <a:bodyPr/>
          <a:lstStyle/>
          <a:p>
            <a:pPr>
              <a:defRPr sz="1800">
                <a:solidFill>
                  <a:srgbClr val="526276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  <c:majorUnit val="20.0"/>
      </c:valAx>
    </c:plotArea>
    <c:legend>
      <c:legendPos val="b"/>
      <c:overlay val="0"/>
      <c:txPr>
        <a:bodyPr/>
        <a:lstStyle/>
        <a:p>
          <a:pPr>
            <a:defRPr sz="1800">
              <a:latin typeface="Microsoft YaHei"/>
              <a:ea typeface="Microsoft YaHei"/>
            </a:defRPr>
          </a:pPr>
        </a:p>
      </c:txPr>
    </c:legend>
    <c:dispBlanksAs val="gap"/>
  </c:chart>
  <c:txPr>
    <a:bodyPr/>
    <a:lstStyle/>
    <a:p>
      <a:pPr>
        <a:defRPr sz="1800">
          <a:solidFill>
            <a:srgbClr val="182B42"/>
          </a:solidFill>
          <a:latin typeface="Microsoft YaHei"/>
          <a:ea typeface="Microsoft YaHei"/>
        </a:defRPr>
      </a:pPr>
      <a:endParaRPr lang="en-US">
        <a:ea typeface="Microsoft YaHei"/>
      </a:endParaR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637B98"/>
            </a:solidFill>
            <a:ln w="31750">
              <a:solidFill>
                <a:srgbClr val="637B98"/>
              </a:solidFill>
            </a:ln>
          </c:spPr>
          <c:marker>
            <c:symbol val="circle"/>
            <c:size val="12"/>
            <c:spPr>
              <a:solidFill>
                <a:srgbClr val="637B98"/>
              </a:solidFill>
              <a:ln>
                <a:solidFill>
                  <a:srgbClr val="637B98"/>
                </a:solidFill>
              </a:ln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8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53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637B98"/>
            </a:solidFill>
            <a:ln w="31750">
              <a:solidFill>
                <a:srgbClr val="637B98"/>
              </a:solidFill>
            </a:ln>
          </c:spPr>
          <c:marker>
            <c:symbol val="circle"/>
            <c:size val="12"/>
            <c:spPr>
              <a:solidFill>
                <a:srgbClr val="637B98"/>
              </a:solidFill>
              <a:ln>
                <a:solidFill>
                  <a:srgbClr val="637B98"/>
                </a:solidFill>
              </a:ln>
            </c:spPr>
          </c:marker>
          <c:xVal>
            <c:numRef>
              <c:f>Sheet1!$A$5:$A$5</c:f>
              <c:numCache>
                <c:formatCode>General</c:formatCode>
                <c:ptCount val="1"/>
                <c:pt idx="0">
                  <c:v>17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68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2764A5"/>
            </a:solidFill>
            <a:ln w="31750">
              <a:solidFill>
                <a:srgbClr val="2764A5"/>
              </a:solidFill>
            </a:ln>
          </c:spPr>
          <c:marker>
            <c:symbol val="circle"/>
            <c:size val="12"/>
            <c:spPr>
              <a:solidFill>
                <a:srgbClr val="2764A5"/>
              </a:solidFill>
              <a:ln>
                <a:solidFill>
                  <a:srgbClr val="2764A5"/>
                </a:solidFill>
              </a:ln>
            </c:spPr>
          </c:marker>
          <c:xVal>
            <c:numRef>
              <c:f>Sheet1!$A$8:$A$8</c:f>
              <c:numCache>
                <c:formatCode>General</c:formatCode>
                <c:ptCount val="1"/>
                <c:pt idx="0">
                  <c:v>29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79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Sheet1!$B$10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rgbClr val="637B98"/>
            </a:solidFill>
            <a:ln w="31750">
              <a:solidFill>
                <a:srgbClr val="637B98"/>
              </a:solidFill>
            </a:ln>
          </c:spPr>
          <c:marker>
            <c:symbol val="circle"/>
            <c:size val="12"/>
            <c:spPr>
              <a:solidFill>
                <a:srgbClr val="637B98"/>
              </a:solidFill>
              <a:ln>
                <a:solidFill>
                  <a:srgbClr val="637B98"/>
                </a:solidFill>
              </a:ln>
            </c:spPr>
          </c:marker>
          <c:xVal>
            <c:numRef>
              <c:f>Sheet1!$A$11:$A$11</c:f>
              <c:numCache>
                <c:formatCode>General</c:formatCode>
                <c:ptCount val="1"/>
                <c:pt idx="0">
                  <c:v>45</c:v>
                </c:pt>
              </c:numCache>
            </c:numRef>
          </c:xVal>
          <c:yVal>
            <c:numRef>
              <c:f>Sheet1!$B$11:$B$11</c:f>
              <c:numCache>
                <c:formatCode>General</c:formatCode>
                <c:ptCount val="1"/>
                <c:pt idx="0">
                  <c:v>83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Sheet1!$B$13</c:f>
              <c:strCache>
                <c:ptCount val="1"/>
                <c:pt idx="0">
                  <c:v>E</c:v>
                </c:pt>
              </c:strCache>
            </c:strRef>
          </c:tx>
          <c:spPr>
            <a:solidFill>
              <a:srgbClr val="637B98"/>
            </a:solidFill>
            <a:ln w="31750">
              <a:solidFill>
                <a:srgbClr val="637B98"/>
              </a:solidFill>
            </a:ln>
          </c:spPr>
          <c:marker>
            <c:symbol val="circle"/>
            <c:size val="12"/>
            <c:spPr>
              <a:solidFill>
                <a:srgbClr val="637B98"/>
              </a:solidFill>
              <a:ln>
                <a:solidFill>
                  <a:srgbClr val="637B98"/>
                </a:solidFill>
              </a:ln>
            </c:spPr>
          </c:marker>
          <c:xVal>
            <c:numRef>
              <c:f>Sheet1!$A$14:$A$14</c:f>
              <c:numCache>
                <c:formatCode>General</c:formatCode>
                <c:ptCount val="1"/>
                <c:pt idx="0">
                  <c:v>53</c:v>
                </c:pt>
              </c:numCache>
            </c:numRef>
          </c:xVal>
          <c:yVal>
            <c:numRef>
              <c:f>Sheet1!$B$14:$B$14</c:f>
              <c:numCache>
                <c:formatCode>General</c:formatCode>
                <c:ptCount val="1"/>
                <c:pt idx="0">
                  <c:v>84</c:v>
                </c:pt>
              </c:numCache>
            </c:numRef>
          </c:yVal>
          <c:smooth val="0"/>
        </c:ser>
        <c:dLbls>
          <c:txPr>
            <a:bodyPr/>
            <a:lstStyle/>
            <a:p>
              <a:pPr>
                <a:defRPr sz="1800">
                  <a:latin typeface="Microsoft YaHei"/>
                  <a:ea typeface="Microsoft YaHei"/>
                </a:defRPr>
              </a:pPr>
            </a:p>
          </c:txPr>
          <c:dLblPos val="t"/>
          <c:showLegendKey val="0"/>
          <c:showVal val="0"/>
          <c:showCatName val="0"/>
          <c:showSerName val="1"/>
          <c:showPercent val="0"/>
        </c:dLbls>
        <c:axId val="-2128940872"/>
        <c:axId val="-2129643912"/>
      </c:scatterChart>
      <c:valAx>
        <c:axId val="-2128940872"/>
        <c:scaling>
          <c:orientation val="minMax"/>
          <c:max val="60.0"/>
          <c:min val="0.0"/>
        </c:scaling>
        <c:delete val="0"/>
        <c:axPos val="b"/>
        <c:title>
          <c:tx>
            <c:rich>
              <a:bodyPr/>
              <a:lstStyle/>
              <a:p>
                <a:pPr>
                  <a:defRPr>
                    <a:ea typeface="Microsoft YaHei"/>
                  </a:defRPr>
                </a:pPr>
                <a:r>
                  <a:rPr sz="1800" b="0">
                    <a:solidFill>
                      <a:srgbClr val="182B42"/>
                    </a:solidFill>
                    <a:latin typeface="Microsoft YaHei"/>
                    <a:ea typeface="Microsoft YaHei"/>
                  </a:rPr>
                  <a:t>推理延迟 ↓ (ms)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>
            <a:solidFill>
              <a:srgbClr val="BBC9D8"/>
            </a:solidFill>
          </a:ln>
        </c:spPr>
        <c:txPr>
          <a:bodyPr/>
          <a:lstStyle/>
          <a:p>
            <a:pPr>
              <a:defRPr sz="1800">
                <a:solidFill>
                  <a:srgbClr val="526276"/>
                </a:solidFill>
                <a:latin typeface="Microsoft YaHei"/>
                <a:ea typeface="Microsoft YaHei"/>
              </a:defRPr>
            </a:pPr>
          </a:p>
        </c:txPr>
        <c:crossAx val="-2129643912"/>
        <c:crosses val="autoZero"/>
        <c:crossBetween val="midCat"/>
        <c:majorUnit val="10.0"/>
      </c:valAx>
      <c:valAx>
        <c:axId val="-2129643912"/>
        <c:scaling>
          <c:orientation val="minMax"/>
          <c:max val="100.0"/>
          <c:min val="0.0"/>
        </c:scaling>
        <c:delete val="0"/>
        <c:axPos val="l"/>
        <c:majorGridlines>
          <c:spPr>
            <a:ln w="8890">
              <a:solidFill>
                <a:srgbClr val="DCE4ED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ea typeface="Microsoft YaHei"/>
                  </a:defRPr>
                </a:pPr>
                <a:r>
                  <a:rPr sz="1800" b="0">
                    <a:solidFill>
                      <a:srgbClr val="182B42"/>
                    </a:solidFill>
                    <a:latin typeface="Microsoft YaHei"/>
                    <a:ea typeface="Microsoft YaHei"/>
                  </a:rPr>
                  <a:t>准确率 ↑ (%)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>
            <a:solidFill>
              <a:srgbClr val="BBC9D8"/>
            </a:solidFill>
          </a:ln>
        </c:spPr>
        <c:txPr>
          <a:bodyPr/>
          <a:lstStyle/>
          <a:p>
            <a:pPr>
              <a:defRPr sz="1800">
                <a:solidFill>
                  <a:srgbClr val="526276"/>
                </a:solidFill>
                <a:latin typeface="Microsoft YaHei"/>
                <a:ea typeface="Microsoft YaHei"/>
              </a:defRPr>
            </a:pPr>
          </a:p>
        </c:txPr>
        <c:crossAx val="-2128940872"/>
        <c:crosses val="autoZero"/>
        <c:crossBetween val="midCat"/>
        <c:majorUnit val="20.0"/>
      </c:valAx>
    </c:plotArea>
    <c:plotVisOnly val="1"/>
    <c:dispBlanksAs val="gap"/>
    <c:showDLblsOverMax val="0"/>
  </c:chart>
  <c:txPr>
    <a:bodyPr/>
    <a:lstStyle/>
    <a:p>
      <a:pPr>
        <a:defRPr sz="1800">
          <a:solidFill>
            <a:srgbClr val="182B42"/>
          </a:solidFill>
          <a:latin typeface="Microsoft YaHei"/>
          <a:ea typeface="Microsoft YaHei"/>
        </a:defRPr>
      </a:pPr>
      <a:endParaRPr lang="en-US">
        <a:ea typeface="Microsoft YaHei"/>
      </a:endParaR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配置 A</c:v>
                </c:pt>
              </c:strCache>
            </c:strRef>
          </c:tx>
          <c:spPr>
            <a:solidFill>
              <a:srgbClr val="637B98"/>
            </a:solidFill>
            <a:ln w="31750">
              <a:solidFill>
                <a:srgbClr val="637B98"/>
              </a:solidFill>
            </a:ln>
          </c:spPr>
          <c:dPt>
            <c:idx val="0"/>
            <c:spPr>
              <a:solidFill>
                <a:srgbClr val="2764A5"/>
              </a:solidFill>
              <a:ln>
                <a:noFill/>
              </a:ln>
            </c:spPr>
          </c:dPt>
          <c:dPt>
            <c:idx val="1"/>
            <c:spPr>
              <a:solidFill>
                <a:srgbClr val="637B98"/>
              </a:solidFill>
              <a:ln>
                <a:noFill/>
              </a:ln>
            </c:spPr>
          </c:dPt>
          <c:dPt>
            <c:idx val="2"/>
            <c:spPr>
              <a:solidFill>
                <a:srgbClr val="BBC9D8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计算</c:v>
                </c:pt>
                <c:pt idx="1">
                  <c:v>检索</c:v>
                </c:pt>
                <c:pt idx="2">
                  <c:v>其他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  <c:firstSliceAng val="0"/>
        <c:holeSize val="63"/>
      </c:doughnutChart>
    </c:plotArea>
    <c:plotVisOnly val="1"/>
    <c:dispBlanksAs val="gap"/>
    <c:showDLblsOverMax val="0"/>
  </c:chart>
  <c:txPr>
    <a:bodyPr/>
    <a:lstStyle/>
    <a:p>
      <a:pPr>
        <a:defRPr sz="1800">
          <a:solidFill>
            <a:srgbClr val="182B42"/>
          </a:solidFill>
          <a:latin typeface="Microsoft YaHei"/>
          <a:ea typeface="Microsoft YaHei"/>
        </a:defRPr>
      </a:pPr>
      <a:endParaRPr>
        <a:ea typeface="Microsoft YaHei"/>
      </a:endParaR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计算</c:v>
                </c:pt>
              </c:strCache>
            </c:strRef>
          </c:tx>
          <c:spPr>
            <a:solidFill>
              <a:srgbClr val="2764A5"/>
            </a:solidFill>
            <a:ln w="31750">
              <a:solidFill>
                <a:srgbClr val="2764A5"/>
              </a:solidFill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800">
                    <a:solidFill>
                      <a:srgbClr val="FFFFFF"/>
                    </a:solidFill>
                    <a:latin typeface="Microsoft YaHei"/>
                    <a:ea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配置 B</c:v>
                </c:pt>
                <c:pt idx="1">
                  <c:v>配置 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</c:v>
                </c:pt>
                <c:pt idx="1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检索</c:v>
                </c:pt>
              </c:strCache>
            </c:strRef>
          </c:tx>
          <c:spPr>
            <a:solidFill>
              <a:srgbClr val="637B98"/>
            </a:solidFill>
            <a:ln w="31750">
              <a:solidFill>
                <a:srgbClr val="637B98"/>
              </a:solidFill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800">
                    <a:solidFill>
                      <a:srgbClr val="FFFFFF"/>
                    </a:solidFill>
                    <a:latin typeface="Microsoft YaHei"/>
                    <a:ea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配置 B</c:v>
                </c:pt>
                <c:pt idx="1">
                  <c:v>配置 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32</c:v>
                </c:pt>
                <c:pt idx="1">
                  <c:v>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BBC9D8"/>
            </a:solidFill>
            <a:ln w="31750">
              <a:solidFill>
                <a:srgbClr val="BBC9D8"/>
              </a:solidFill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800">
                    <a:solidFill>
                      <a:srgbClr val="182B42"/>
                    </a:solidFill>
                    <a:latin typeface="Microsoft YaHei"/>
                    <a:ea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配置 B</c:v>
                </c:pt>
                <c:pt idx="1">
                  <c:v>配置 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20</c:v>
                </c:pt>
                <c:pt idx="1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800">
                  <a:latin typeface="Microsoft YaHei"/>
                  <a:ea typeface="Microsoft YaHe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BBC9D8"/>
            </a:solidFill>
          </a:ln>
        </c:spPr>
        <c:txPr>
          <a:bodyPr/>
          <a:lstStyle/>
          <a:p>
            <a:pPr>
              <a:defRPr sz="1800">
                <a:solidFill>
                  <a:srgbClr val="526276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8890">
              <a:solidFill>
                <a:srgbClr val="DCE4ED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solidFill>
              <a:srgbClr val="BBC9D8"/>
            </a:solidFill>
          </a:ln>
        </c:spPr>
        <c:txPr>
          <a:bodyPr/>
          <a:lstStyle/>
          <a:p>
            <a:pPr>
              <a:defRPr sz="1800">
                <a:solidFill>
                  <a:srgbClr val="526276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800">
              <a:latin typeface="Microsoft YaHei"/>
              <a:ea typeface="Microsoft YaHei"/>
            </a:defRPr>
          </a:pPr>
        </a:p>
      </c:txPr>
    </c:legend>
    <c:dispBlanksAs val="gap"/>
  </c:chart>
  <c:txPr>
    <a:bodyPr/>
    <a:lstStyle/>
    <a:p>
      <a:pPr>
        <a:defRPr sz="1800">
          <a:solidFill>
            <a:srgbClr val="182B42"/>
          </a:solidFill>
          <a:latin typeface="Microsoft YaHei"/>
          <a:ea typeface="Microsoft YaHei"/>
        </a:defRPr>
      </a:pPr>
      <a:endParaRPr lang="en-US">
        <a:ea typeface="Microsoft YaHei"/>
      </a:endParaR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演示数据，非研究结果。全部数值由本脚本明确设定或确定性生成，无外部数据来源。</a:t>
            </a:r>
          </a:p>
          <a:p>
            <a:r>
              <a:t>主题：seminar-blue；用途：向 AI 展示可选择的学术图表与呈现效果。</a:t>
            </a:r>
          </a:p>
          <a:p>
            <a:r>
              <a:t>原生折线图，含嵌入工作簿。检查点1–6；基线=[52, 62, 69, 73, 75, 76]；配置B=[52, 63, 71, 77, 80, 82]。</a:t>
            </a:r>
          </a:p>
          <a:p>
            <a:r>
              <a:t>呈现目的：连续横轴上的变化与局部差异；末点差6个百分点，不是相对提升6%。单条轨迹无误差估计。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演示数据，非研究结果。全部数值由本脚本明确设定或确定性生成，无外部数据来源。</a:t>
            </a:r>
          </a:p>
          <a:p>
            <a:r>
              <a:t>主题：seminar-blue；用途：向 AI 展示可选择的学术图表与呈现效果。</a:t>
            </a:r>
          </a:p>
          <a:p>
            <a:r>
              <a:t>原生分组柱状图，含嵌入数据。任务甲乙丙；基线=[68, 72, 75]；配置B=[70, 74, 76]。</a:t>
            </a:r>
          </a:p>
          <a:p>
            <a:r>
              <a:t>呈现目的：共享零点和相同尺度的组内比较；各组同一划分、训练预算和评测协议。每项为一次演示值，无误差条。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演示数据，非研究结果。全部数值由本脚本明确设定或确定性生成，无外部数据来源。</a:t>
            </a:r>
          </a:p>
          <a:p>
            <a:r>
              <a:t>主题：seminar-blue；用途：向 AI 展示可选择的学术图表与呈现效果。</a:t>
            </a:r>
          </a:p>
          <a:p>
            <a:r>
              <a:t>原生表格单元格与色标形状可编辑。行=候选数，列=温度；准确率(%)=[[61, 65, 68, 70], [66, 72, 76, 74], [68, 75, 81, 78], [67, 73, 77, 75]]。</a:t>
            </a:r>
          </a:p>
          <a:p>
            <a:r>
              <a:t>呈现目的：离散超参数网格的局部结构；原值映射固定色标60–85%，无行列归一化。16格均有有效演示值，无缺失值或0。每格一次演示值，不能据此确定最优超参数。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演示数据，非研究结果。全部数值由本脚本明确设定或确定性生成，无外部数据来源。</a:t>
            </a:r>
          </a:p>
          <a:p>
            <a:r>
              <a:t>主题：seminar-blue；用途：向 AI 展示可选择的学术图表与呈现效果。</a:t>
            </a:r>
          </a:p>
          <a:p>
            <a:r>
              <a:t>原生XY散点，含嵌入工作簿。点为(配置, 延迟ms, 准确率%)：[('A', 8, 53), ('B', 17, 68), ('C', 29, 79), ('D', 45, 83), ('E', 53, 84)]。</a:t>
            </a:r>
          </a:p>
          <a:p>
            <a:r>
              <a:t>呈现目的：联合读取两个数值轴；各点为同一协议下的演示配置，不代表误差分布或实际Pareto结论。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演示数据，非研究结果。全部数值由本脚本明确设定或确定性生成，无外部数据来源。</a:t>
            </a:r>
          </a:p>
          <a:p>
            <a:r>
              <a:t>主题：seminar-blue；用途：向 AI 展示可选择的学术图表与呈现效果。</a:t>
            </a:r>
          </a:p>
          <a:p>
            <a:r>
              <a:t>可重建PNG绘图资产，不是原生可编辑曲面/等高线。公式 z=80-20(x-0.6)^2-30(y-0.4)^2；x,y=np.linspace(0,1,41)，meshgrid后确定性求值。无测量样本或误差。</a:t>
            </a:r>
          </a:p>
          <a:p>
            <a:r>
              <a:t>呈现目的：3D显示整体形态，等高线便于定位峰值与比较水平集；两图共享相同网格、尺度与色标。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演示数据，非研究结果。全部数值由本脚本明确设定或确定性生成，无外部数据来源。</a:t>
            </a:r>
          </a:p>
          <a:p>
            <a:r>
              <a:t>主题：seminar-blue；用途：向 AI 展示可选择的学术图表与呈现效果。</a:t>
            </a:r>
          </a:p>
          <a:p>
            <a:r>
              <a:t>两个原生图表均含嵌入数据。配置A=[60,25,15]、配置B=[48,32,20]；类别为计算、检索、其他，单位%。</a:t>
            </a:r>
          </a:p>
          <a:p>
            <a:r>
              <a:t>呈现目的：环形图表示单个整体；100%堆叠条形在一致顺序下比较组成。每组总计100%，无样本量或统计误差。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演示数据，非研究结果。全部数值由本脚本明确设定或确定性生成，无外部数据来源。</a:t>
            </a:r>
          </a:p>
          <a:p>
            <a:r>
              <a:t>主题：seminar-blue；用途：向 AI 展示可选择的学术图表与呈现效果。</a:t>
            </a:r>
          </a:p>
          <a:p>
            <a:r>
              <a:t>PNG绘图资产；可从源脚本重建。配置A=[16, 17, 17, 18, 18, 19, 19, 20, 20, 21, 22, 29]；配置B=[15, 16, 16, 17, 17, 18, 18, 18, 19, 19, 20, 23]；每组n=12个演示请求，单位ms。</a:t>
            </a:r>
          </a:p>
          <a:p>
            <a:r>
              <a:t>箱体=第25–75百分位，横线=中位数，须=1.5×IQR内最远样本；全部原始点均显示。横向偏移为固定的12个位置，只用于避让重叠，不代表第三变量。呈现目的：比较集中、离散与尾部，不做显著性推断。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演示数据，非研究结果。全部数值由本脚本明确设定或确定性生成，无外部数据来源。</a:t>
            </a:r>
          </a:p>
          <a:p>
            <a:r>
              <a:t>主题：seminar-blue；用途：向 AI 展示可选择的学术图表与呈现效果。</a:t>
            </a:r>
          </a:p>
          <a:p>
            <a:r>
              <a:t>原生可编辑表格。各配置三次演示运行的(准确率%,P95延迟ms)={'基线': ([71, 72, 73], [18, 19, 20]), '配置 B': ([73, 74, 75], [21, 22, 23]), '配置 C': ([72, 73, 74], [19, 20, 21])}。</a:t>
            </a:r>
          </a:p>
          <a:p>
            <a:r>
              <a:t>均值与样本标准差由这3个值计算，ddof=1；n是运行次数，不是请求数。所有配置同划分、同训练预算和同评测协议。呈现目的：多指标权衡；仅加粗配置B的最高准确率，未进行显著性检验，不能把差异当作稳定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764A5"/>
                </a:solidFill>
                <a:latin typeface="Microsoft YaHei"/>
                <a:ea typeface="Microsoft YaHei"/>
              </a:rPr>
              <a:t>图表样张 / 折线趋势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82B42"/>
                </a:solidFill>
                <a:latin typeface="Microsoft YaHei"/>
                <a:ea typeface="Microsoft YaHei"/>
              </a:rPr>
              <a:t>趋势观察：两条曲线在后段逐渐分开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26276"/>
                </a:solidFill>
                <a:latin typeface="Microsoft YaHei"/>
                <a:ea typeface="Microsoft YaHei"/>
              </a:rPr>
              <a:t>演示数据，非研究结果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52627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同一演示验证集；6 个检查点；每个配置展示一条轨迹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993392"/>
          <a:ext cx="850392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23544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764A5"/>
                </a:solidFill>
                <a:latin typeface="Microsoft YaHei"/>
                <a:ea typeface="Microsoft YaHei"/>
              </a:rPr>
              <a:t>末个检查点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3328416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82B42"/>
                </a:solidFill>
                <a:latin typeface="Microsoft YaHei"/>
                <a:ea typeface="Microsoft YaHei"/>
              </a:rPr>
              <a:t>82% vs 76%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82B42"/>
                </a:solidFill>
                <a:latin typeface="Microsoft YaHei"/>
                <a:ea typeface="Microsoft YaHei"/>
              </a:rPr>
              <a:t>相差 6 个百分点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4718304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526276"/>
                </a:solidFill>
                <a:latin typeface="Microsoft YaHei"/>
                <a:ea typeface="Microsoft YaHei"/>
              </a:rPr>
              <a:t>单条演示轨迹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526276"/>
                </a:solidFill>
                <a:latin typeface="Microsoft YaHei"/>
                <a:ea typeface="Microsoft YaHei"/>
              </a:rPr>
              <a:t>不能说明稳定提升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764A5"/>
                </a:solidFill>
                <a:latin typeface="Microsoft YaHei"/>
                <a:ea typeface="Microsoft YaHei"/>
              </a:rPr>
              <a:t>图表样张 / 分组柱状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82B42"/>
                </a:solidFill>
                <a:latin typeface="Microsoft YaHei"/>
                <a:ea typeface="Microsoft YaHei"/>
              </a:rPr>
              <a:t>公平比较：固定预算后再比较配置差异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26276"/>
                </a:solidFill>
                <a:latin typeface="Microsoft YaHei"/>
                <a:ea typeface="Microsoft YaHei"/>
              </a:rPr>
              <a:t>演示数据，非研究结果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52627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组内控制：同一划分、同一训练预算、同一评测协议；每项为单次演示值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057400"/>
          <a:ext cx="10881360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764A5"/>
                </a:solidFill>
                <a:latin typeface="Microsoft YaHei"/>
                <a:ea typeface="Microsoft YaHei"/>
              </a:rPr>
              <a:t>图表样张 / 原生热力图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82B42"/>
                </a:solidFill>
                <a:latin typeface="Microsoft YaHei"/>
                <a:ea typeface="Microsoft YaHei"/>
              </a:rPr>
              <a:t>二维扫描：局部高值需要连同邻域一起看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26276"/>
                </a:solidFill>
                <a:latin typeface="Microsoft YaHei"/>
                <a:ea typeface="Microsoft YaHei"/>
              </a:rPr>
              <a:t>演示数据，非研究结果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52627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准确率 ↑ (%)；每格单次演示值；按原值映射固定色标 60–85%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267712"/>
          <a:ext cx="8823957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229"/>
                <a:gridCol w="1632432"/>
                <a:gridCol w="1632432"/>
                <a:gridCol w="1632432"/>
                <a:gridCol w="1632432"/>
              </a:tblGrid>
              <a:tr h="63642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候选数 / 温度</a:t>
                      </a:r>
                    </a:p>
                  </a:txBody>
                  <a:tcPr marL="91440" marR="91440" marT="54864" marB="54864" anchor="ctr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0.2</a:t>
                      </a:r>
                    </a:p>
                  </a:txBody>
                  <a:tcPr marL="91440" marR="91440" marT="54864" marB="54864" anchor="ctr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0.4</a:t>
                      </a:r>
                    </a:p>
                  </a:txBody>
                  <a:tcPr marL="91440" marR="91440" marT="54864" marB="54864" anchor="ctr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0.6</a:t>
                      </a:r>
                    </a:p>
                  </a:txBody>
                  <a:tcPr marL="91440" marR="91440" marT="54864" marB="54864" anchor="ctr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0.8</a:t>
                      </a:r>
                    </a:p>
                  </a:txBody>
                  <a:tcPr marL="91440" marR="91440" marT="54864" marB="54864" anchor="ctr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642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</a:p>
                  </a:txBody>
                  <a:tcPr marL="91440" marR="91440" marT="54864" marB="54864" anchor="ctr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61</a:t>
                      </a:r>
                    </a:p>
                  </a:txBody>
                  <a:tcPr marL="91440" marR="91440" marT="54864" marB="54864" anchor="ctr">
                    <a:solidFill>
                      <a:srgbClr val="E9F1F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65</a:t>
                      </a:r>
                    </a:p>
                  </a:txBody>
                  <a:tcPr marL="91440" marR="91440" marT="54864" marB="54864" anchor="ctr">
                    <a:solidFill>
                      <a:srgbClr val="D2E3F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68</a:t>
                      </a:r>
                    </a:p>
                  </a:txBody>
                  <a:tcPr marL="91440" marR="91440" marT="54864" marB="54864" anchor="ctr">
                    <a:solidFill>
                      <a:srgbClr val="C1D8E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70</a:t>
                      </a:r>
                    </a:p>
                  </a:txBody>
                  <a:tcPr marL="91440" marR="91440" marT="54864" marB="54864" anchor="ctr">
                    <a:solidFill>
                      <a:srgbClr val="B6D1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642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20</a:t>
                      </a:r>
                    </a:p>
                  </a:txBody>
                  <a:tcPr marL="91440" marR="91440" marT="54864" marB="54864" anchor="ctr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66</a:t>
                      </a:r>
                    </a:p>
                  </a:txBody>
                  <a:tcPr marL="91440" marR="91440" marT="54864" marB="54864" anchor="ctr">
                    <a:solidFill>
                      <a:srgbClr val="CDDFF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72</a:t>
                      </a:r>
                    </a:p>
                  </a:txBody>
                  <a:tcPr marL="91440" marR="91440" marT="54864" marB="54864" anchor="ctr">
                    <a:solidFill>
                      <a:srgbClr val="AACAE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76</a:t>
                      </a:r>
                    </a:p>
                  </a:txBody>
                  <a:tcPr marL="91440" marR="91440" marT="54864" marB="54864" anchor="ctr">
                    <a:solidFill>
                      <a:srgbClr val="93BBD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74</a:t>
                      </a:r>
                    </a:p>
                  </a:txBody>
                  <a:tcPr marL="91440" marR="91440" marT="54864" marB="54864" anchor="ctr">
                    <a:solidFill>
                      <a:srgbClr val="9FC3E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642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30</a:t>
                      </a:r>
                    </a:p>
                  </a:txBody>
                  <a:tcPr marL="91440" marR="91440" marT="54864" marB="54864" anchor="ctr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68</a:t>
                      </a:r>
                    </a:p>
                  </a:txBody>
                  <a:tcPr marL="91440" marR="91440" marT="54864" marB="54864" anchor="ctr">
                    <a:solidFill>
                      <a:srgbClr val="C1D8E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75</a:t>
                      </a:r>
                    </a:p>
                  </a:txBody>
                  <a:tcPr marL="91440" marR="91440" marT="54864" marB="54864" anchor="ctr">
                    <a:solidFill>
                      <a:srgbClr val="99BFE1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81</a:t>
                      </a:r>
                    </a:p>
                  </a:txBody>
                  <a:tcPr marL="91440" marR="91440" marT="54864" marB="54864" anchor="ctr">
                    <a:solidFill>
                      <a:srgbClr val="77A9D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78</a:t>
                      </a:r>
                    </a:p>
                  </a:txBody>
                  <a:tcPr marL="91440" marR="91440" marT="54864" marB="54864" anchor="ctr">
                    <a:solidFill>
                      <a:srgbClr val="88B4D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6424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40</a:t>
                      </a:r>
                    </a:p>
                  </a:txBody>
                  <a:tcPr marL="91440" marR="91440" marT="54864" marB="54864" anchor="ctr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67</a:t>
                      </a:r>
                    </a:p>
                  </a:txBody>
                  <a:tcPr marL="91440" marR="91440" marT="54864" marB="54864" anchor="ctr">
                    <a:solidFill>
                      <a:srgbClr val="C7DCE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73</a:t>
                      </a:r>
                    </a:p>
                  </a:txBody>
                  <a:tcPr marL="91440" marR="91440" marT="54864" marB="54864" anchor="ctr">
                    <a:solidFill>
                      <a:srgbClr val="A5C6E4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77</a:t>
                      </a:r>
                    </a:p>
                  </a:txBody>
                  <a:tcPr marL="91440" marR="91440" marT="54864" marB="54864" anchor="ctr">
                    <a:solidFill>
                      <a:srgbClr val="8EB8D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75</a:t>
                      </a:r>
                    </a:p>
                  </a:txBody>
                  <a:tcPr marL="91440" marR="91440" marT="54864" marB="54864" anchor="ctr">
                    <a:solidFill>
                      <a:srgbClr val="99BFE1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0012680" y="2286000"/>
            <a:ext cx="411480" cy="457200"/>
          </a:xfrm>
          <a:prstGeom prst="rect">
            <a:avLst/>
          </a:prstGeom>
          <a:solidFill>
            <a:srgbClr val="EF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79608" y="230428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12680" y="2724912"/>
            <a:ext cx="411480" cy="457200"/>
          </a:xfrm>
          <a:prstGeom prst="rect">
            <a:avLst/>
          </a:prstGeom>
          <a:solidFill>
            <a:srgbClr val="D2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79608" y="2743200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12680" y="3163824"/>
            <a:ext cx="411480" cy="457200"/>
          </a:xfrm>
          <a:prstGeom prst="rect">
            <a:avLst/>
          </a:prstGeom>
          <a:solidFill>
            <a:srgbClr val="B6D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79608" y="3182112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12680" y="3602736"/>
            <a:ext cx="411480" cy="457200"/>
          </a:xfrm>
          <a:prstGeom prst="rect">
            <a:avLst/>
          </a:prstGeom>
          <a:solidFill>
            <a:srgbClr val="99B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79608" y="3621024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75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12680" y="4041648"/>
            <a:ext cx="411480" cy="457200"/>
          </a:xfrm>
          <a:prstGeom prst="rect">
            <a:avLst/>
          </a:prstGeom>
          <a:solidFill>
            <a:srgbClr val="7DA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79608" y="4059935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12680" y="4480560"/>
            <a:ext cx="411480" cy="457200"/>
          </a:xfrm>
          <a:prstGeom prst="rect">
            <a:avLst/>
          </a:prstGeom>
          <a:solidFill>
            <a:srgbClr val="609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79608" y="44988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516636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色标 (%)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150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182B42"/>
                </a:solidFill>
                <a:latin typeface="Microsoft YaHei"/>
                <a:ea typeface="Microsoft YaHei"/>
              </a:rPr>
              <a:t>高值位于中部；边缘回落。保留完整网格，避免只摘出最高一格。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764A5"/>
                </a:solidFill>
                <a:latin typeface="Microsoft YaHei"/>
                <a:ea typeface="Microsoft YaHei"/>
              </a:rPr>
              <a:t>图表样张 / 原生 XY 散点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82B42"/>
                </a:solidFill>
                <a:latin typeface="Microsoft YaHei"/>
                <a:ea typeface="Microsoft YaHei"/>
              </a:rPr>
              <a:t>质量与成本：后段收益变小，成本仍在增加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26276"/>
                </a:solidFill>
                <a:latin typeface="Microsoft YaHei"/>
                <a:ea typeface="Microsoft YaHei"/>
              </a:rPr>
              <a:t>演示数据，非研究结果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52627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同一演示评测协议；每个点代表一个配置；横轴越左越快，纵轴越高越准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057400"/>
          <a:ext cx="10881360" cy="40965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764A5"/>
                </a:solidFill>
                <a:latin typeface="Microsoft YaHei"/>
                <a:ea typeface="Microsoft YaHei"/>
              </a:rPr>
              <a:t>图表样张 / 三维与二维对照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82B42"/>
                </a:solidFill>
                <a:latin typeface="Microsoft YaHei"/>
                <a:ea typeface="Microsoft YaHei"/>
              </a:rPr>
              <a:t>响应面与等高线：同一函数的两种空间读法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26276"/>
                </a:solidFill>
                <a:latin typeface="Microsoft YaHei"/>
                <a:ea typeface="Microsoft YaHei"/>
              </a:rPr>
              <a:t>演示数据，非研究结果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52627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左：空间形态；右：峰值位置与水平集。两图共享函数、网格和色标。</a:t>
            </a:r>
          </a:p>
        </p:txBody>
      </p:sp>
      <p:pic>
        <p:nvPicPr>
          <p:cNvPr id="7" name="Picture 6" descr="确定性函数响应面及等高线；PNG绘图资产，公式与41×41网格定义见备注及源脚本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38528"/>
            <a:ext cx="1097280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8064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z = 80 − 20(x − 0.6)² − 30(y − 0.4)²；0 ≤ x, y ≤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8134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526276"/>
                </a:solidFill>
                <a:latin typeface="Microsoft YaHei"/>
                <a:ea typeface="Microsoft YaHei"/>
              </a:rPr>
              <a:t>3D 与等高线为可重建 PNG 绘图资产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764A5"/>
                </a:solidFill>
                <a:latin typeface="Microsoft YaHei"/>
                <a:ea typeface="Microsoft YaHei"/>
              </a:rPr>
              <a:t>图表样张 / 部分与整体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82B42"/>
                </a:solidFill>
                <a:latin typeface="Microsoft YaHei"/>
                <a:ea typeface="Microsoft YaHei"/>
              </a:rPr>
              <a:t>组成与比较：环形看整体，条形对齐比例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26276"/>
                </a:solidFill>
                <a:latin typeface="Microsoft YaHei"/>
                <a:ea typeface="Microsoft YaHei"/>
              </a:rPr>
              <a:t>演示数据，非研究结果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526276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同一耗时口径；类别顺序与颜色一致；每组总和均为 100%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2423160"/>
          <a:ext cx="3108960" cy="34015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463040" y="391363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82B42"/>
                </a:solidFill>
                <a:latin typeface="Microsoft YaHei"/>
                <a:ea typeface="Microsoft YaHei"/>
              </a:rPr>
              <a:t>配置 A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3127248"/>
            <a:ext cx="146304" cy="146304"/>
          </a:xfrm>
          <a:prstGeom prst="rect">
            <a:avLst/>
          </a:prstGeom>
          <a:solidFill>
            <a:srgbClr val="276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9392" y="303580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计算 60%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3813048"/>
            <a:ext cx="146304" cy="146304"/>
          </a:xfrm>
          <a:prstGeom prst="rect">
            <a:avLst/>
          </a:prstGeom>
          <a:solidFill>
            <a:srgbClr val="637B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372160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检索 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4498848"/>
            <a:ext cx="146304" cy="146304"/>
          </a:xfrm>
          <a:prstGeom prst="rect">
            <a:avLst/>
          </a:prstGeom>
          <a:solidFill>
            <a:srgbClr val="BBC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440740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其他 15%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669280" y="2423160"/>
          <a:ext cx="5852160" cy="340156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85800" y="591616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182B42"/>
                </a:solidFill>
                <a:latin typeface="Microsoft YaHei"/>
                <a:ea typeface="Microsoft YaHei"/>
              </a:rPr>
              <a:t>计算占比从 60% 变为 48%：减少 12 个百分点。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764A5"/>
                </a:solidFill>
                <a:latin typeface="Microsoft YaHei"/>
                <a:ea typeface="Microsoft YaHei"/>
              </a:rPr>
              <a:t>图表样张 / 箱线与原始点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82B42"/>
                </a:solidFill>
                <a:latin typeface="Microsoft YaHei"/>
                <a:ea typeface="Microsoft YaHei"/>
              </a:rPr>
              <a:t>分布观察：箱线保留概括，原始点保留样本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26276"/>
                </a:solidFill>
                <a:latin typeface="Microsoft YaHei"/>
                <a:ea typeface="Microsoft YaHei"/>
              </a:rPr>
              <a:t>演示数据，非研究结果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526276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每组 n = 12 个演示请求；箱体为四分位区间；全部原始点均显示</a:t>
            </a:r>
          </a:p>
        </p:txBody>
      </p:sp>
      <p:pic>
        <p:nvPicPr>
          <p:cNvPr id="7" name="Picture 6" descr="箱线图叠加全部12个原始点；PNG资产；原始数值与统计定义见备注及源脚本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84248"/>
            <a:ext cx="850392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17152" y="285292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764A5"/>
                </a:solidFill>
                <a:latin typeface="Microsoft YaHei"/>
                <a:ea typeface="Microsoft YaHei"/>
              </a:rPr>
              <a:t>尾部样本仍可见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7152" y="3438144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82B42"/>
                </a:solidFill>
                <a:latin typeface="Microsoft YaHei"/>
                <a:ea typeface="Microsoft YaHei"/>
              </a:rPr>
              <a:t>不只看均值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82B42"/>
                </a:solidFill>
                <a:latin typeface="Microsoft YaHei"/>
                <a:ea typeface="Microsoft YaHei"/>
              </a:rPr>
              <a:t>也看离散与长尾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475488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526276"/>
                </a:solidFill>
                <a:latin typeface="Microsoft YaHei"/>
                <a:ea typeface="Microsoft YaHei"/>
              </a:rPr>
              <a:t>须：1.5 × IQR 内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526276"/>
                </a:solidFill>
                <a:latin typeface="Microsoft YaHei"/>
                <a:ea typeface="Microsoft YaHei"/>
              </a:rPr>
              <a:t>最远的实际样本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764A5"/>
                </a:solidFill>
                <a:latin typeface="Microsoft YaHei"/>
                <a:ea typeface="Microsoft YaHei"/>
              </a:rPr>
              <a:t>图表样张 / 原生科研结果表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82B42"/>
                </a:solidFill>
                <a:latin typeface="Microsoft YaHei"/>
                <a:ea typeface="Microsoft YaHei"/>
              </a:rPr>
              <a:t>结果表：方向、单位与误差含义一起呈现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526276"/>
                </a:solidFill>
                <a:latin typeface="Microsoft YaHei"/>
                <a:ea typeface="Microsoft YaHei"/>
              </a:rPr>
              <a:t>演示数据，非研究结果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82528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526276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同一划分、同一训练预算与同一评测协议；n = 每配置的演示运行次数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432304"/>
          <a:ext cx="1078991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3129076"/>
                <a:gridCol w="3560673"/>
                <a:gridCol w="1942185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配置</a:t>
                      </a:r>
                    </a:p>
                  </a:txBody>
                  <a:tcPr marL="91440" marR="91440" marT="54864" marB="54864" anchor="ctr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准确率 ↑ (%)</a:t>
                      </a:r>
                    </a:p>
                  </a:txBody>
                  <a:tcPr marL="91440" marR="91440" marT="54864" marB="54864" anchor="ctr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P95 延迟 ↓ (ms)</a:t>
                      </a:r>
                    </a:p>
                  </a:txBody>
                  <a:tcPr marL="91440" marR="91440" marT="54864" marB="54864" anchor="ctr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运行次数 n</a:t>
                      </a:r>
                    </a:p>
                  </a:txBody>
                  <a:tcPr marL="91440" marR="91440" marT="54864" marB="54864" anchor="ctr">
                    <a:solidFill>
                      <a:srgbClr val="E9EFF6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基线</a:t>
                      </a:r>
                    </a:p>
                  </a:txBody>
                  <a:tcPr marL="91440" marR="91440" marT="54864" marB="54864" anchor="ctr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72.0 ± 1.0</a:t>
                      </a:r>
                    </a:p>
                  </a:txBody>
                  <a:tcPr marL="91440" marR="91440" marT="54864" marB="54864" anchor="ctr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19.0 ± 1.0</a:t>
                      </a:r>
                    </a:p>
                  </a:txBody>
                  <a:tcPr marL="91440" marR="91440" marT="54864" marB="54864" anchor="ctr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91440" marR="91440" marT="54864" marB="54864" anchor="ctr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配置 B</a:t>
                      </a:r>
                    </a:p>
                  </a:txBody>
                  <a:tcPr marL="91440" marR="91440" marT="54864" marB="54864" anchor="ctr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2764A5"/>
                          </a:solidFill>
                          <a:latin typeface="Microsoft YaHei"/>
                          <a:ea typeface="Microsoft YaHei"/>
                        </a:rPr>
                        <a:t>74.0 ± 1.0</a:t>
                      </a:r>
                    </a:p>
                  </a:txBody>
                  <a:tcPr marL="91440" marR="91440" marT="54864" marB="54864" anchor="ctr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22.0 ± 1.0</a:t>
                      </a:r>
                    </a:p>
                  </a:txBody>
                  <a:tcPr marL="91440" marR="91440" marT="54864" marB="54864" anchor="ctr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91440" marR="91440" marT="54864" marB="54864" anchor="ctr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配置 C</a:t>
                      </a:r>
                    </a:p>
                  </a:txBody>
                  <a:tcPr marL="91440" marR="91440" marT="54864" marB="54864" anchor="ctr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73.0 ± 1.0</a:t>
                      </a:r>
                    </a:p>
                  </a:txBody>
                  <a:tcPr marL="91440" marR="91440" marT="54864" marB="54864" anchor="ctr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20.0 ± 1.0</a:t>
                      </a:r>
                    </a:p>
                  </a:txBody>
                  <a:tcPr marL="91440" marR="91440" marT="54864" marB="54864" anchor="ctr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82B42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91440" marR="91440" marT="54864" marB="54864" anchor="ctr">
                    <a:solidFill>
                      <a:srgbClr val="F7F9F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32180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182B42"/>
                </a:solidFill>
                <a:latin typeface="Microsoft YaHei"/>
                <a:ea typeface="Microsoft YaHei"/>
              </a:rPr>
              <a:t>数值为 mean ± SD；SD 为 3 次运行的样本标准差（ddof = 1）。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182B42"/>
                </a:solidFill>
                <a:latin typeface="Microsoft YaHei"/>
                <a:ea typeface="Microsoft YaHei"/>
              </a:rPr>
              <a:t>配置 B 的准确率较高，同时延迟增加；此样张未做显著性检验。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学术图表展示样张</dc:title>
  <dc:subject>演示数据，非研究结果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