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样式：seminar-blue / 清晰学术。适用：论文组会、跨方向交流。</a:t>
            </a:r>
          </a:p>
          <a:p>
            <a:r>
              <a:t>构图约定：主证据占约三分之二宽度，短解释紧邻证据，结论沿阅读路径收束。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样式：seminar-blue / 清晰学术。适用：论文组会、跨方向交流。</a:t>
            </a:r>
          </a:p>
          <a:p>
            <a:r>
              <a:t>构图约定：主证据占约三分之二宽度，短解释紧邻证据，结论沿阅读路径收束。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样式：paper-ink / 黑白论文。适用：论文精读、密集原图。</a:t>
            </a:r>
          </a:p>
          <a:p>
            <a:r>
              <a:t>构图约定：开放图版横向展开，减少容器，直接标签和邻近图注组织原图阅读。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样式：paper-ink / 黑白论文。适用：论文精读、密集原图。</a:t>
            </a:r>
          </a:p>
          <a:p>
            <a:r>
              <a:t>构图约定：开放图版横向展开，减少容器，直接标签和邻近图注组织原图阅读。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样式：lab-teal / 实验手记。适用：实验进展、失败复盘。</a:t>
            </a:r>
          </a:p>
          <a:p>
            <a:r>
              <a:t>构图约定：窄区记录改动与控制条件，宽区展示观察，下一步紧接观察与不确定性。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样式：lab-teal / 实验手记。适用：实验进展、失败复盘。</a:t>
            </a:r>
          </a:p>
          <a:p>
            <a:r>
              <a:t>构图约定：窄区记录改动与控制条件，宽区展示观察，下一步紧接观察与不确定性。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样式：method-indigo / 方法图解。适用：算法机制、模型流程。</a:t>
            </a:r>
          </a:p>
          <a:p>
            <a:r>
              <a:t>构图约定：总览沿单一数据流展开，局部机制保留总览定位，输入输出贴近节点。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样式：method-indigo / 方法图解。适用：算法机制、模型流程。</a:t>
            </a:r>
          </a:p>
          <a:p>
            <a:r>
              <a:t>构图约定：总览沿单一数据流展开，局部机制保留总览定位，输入输出贴近节点。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样式：results-cobalt / 数据对照。适用：主结果、消融比较。</a:t>
            </a:r>
          </a:p>
          <a:p>
            <a:r>
              <a:t>构图约定：结果表与同尺度图轴占主要区域，比较条件在上，解读邻接关键行列。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样式：results-cobalt / 数据对照。适用：主结果、消融比较。</a:t>
            </a:r>
          </a:p>
          <a:p>
            <a:r>
              <a:t>构图约定：结果表与同尺度图轴占主要区域，比较条件在上，解读邻接关键行列。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样式：theory-slate / 理论推导。适用：数学推导、优化理论。</a:t>
            </a:r>
          </a:p>
          <a:p>
            <a:r>
              <a:t>构图约定：推导链占约七成宽度，右侧保留新符号与成立条件，关键转化邻近注释。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样式：theory-slate / 理论推导。适用：数学推导、优化理论。</a:t>
            </a:r>
          </a:p>
          <a:p>
            <a:r>
              <a:t>构图约定：推导链占约七成宽度，右侧保留新符号与成立条件，关键转化邻近注释。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样式：systems-dark / 深色系统。适用：系统架构、组件交互。</a:t>
            </a:r>
          </a:p>
          <a:p>
            <a:r>
              <a:t>构图约定：深底承载系统关系并高亮当前路径，黑色坐标轴的原图与表格使用浅底图版。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样式：systems-dark / 深色系统。适用：系统架构、组件交互。</a:t>
            </a:r>
          </a:p>
          <a:p>
            <a:r>
              <a:t>构图约定：深底承载系统关系并高亮当前路径，黑色坐标轴的原图与表格使用浅底图版。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样式：vision-plum / 视觉证据。适用：图像与视频、定性错误分析。</a:t>
            </a:r>
          </a:p>
          <a:p>
            <a:r>
              <a:t>构图约定：同尺度样本成行比较，局部放大与短注释紧靠差异，保持裁切与列序一致。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样式：vision-plum / 视觉证据。适用：图像与视频、定性错误分析。</a:t>
            </a:r>
          </a:p>
          <a:p>
            <a:r>
              <a:t>构图约定：同尺度样本成行比较，局部放大与短注释紧靠差异，保持裁切与列序一致。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样式：bio-forest / 生命科学。适用：观察实验、多面板证据。</a:t>
            </a:r>
          </a:p>
          <a:p>
            <a:r>
              <a:t>构图约定：处理条件与观测结果对应，多面板按编号串联，比例尺和样本信息保持可见。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样式：bio-forest / 生命科学。适用：观察实验、多面板证据。</a:t>
            </a:r>
          </a:p>
          <a:p>
            <a:r>
              <a:t>构图约定：处理条件与观测结果对应，多面板按编号串联，比例尺和样本信息保持可见。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样式：social-clay / 人文实证。适用：访谈与文本、案例与混合方法。</a:t>
            </a:r>
          </a:p>
          <a:p>
            <a:r>
              <a:t>构图约定：窄区呈现问题与解释，宽区展示有出处的材料，按论证关系形成非对称阅读。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样式：social-clay / 人文实证。适用：访谈与文本、案例与混合方法。</a:t>
            </a:r>
          </a:p>
          <a:p>
            <a:r>
              <a:t>构图约定：窄区呈现问题与解释，宽区展示有出处的材料，按论证关系形成非对称阅读。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样式：teaching-ochre / 概念教学。适用：课程汇报、跨领域讲解。</a:t>
            </a:r>
          </a:p>
          <a:p>
            <a:r>
              <a:t>构图约定：一个示例贯穿概念与操作，稳定位置保留上下文，再逐步加入机制与解释。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样式：teaching-ochre / 概念教学。适用：课程汇报、跨领域讲解。</a:t>
            </a:r>
          </a:p>
          <a:p>
            <a:r>
              <a:t>构图约定：一个示例贯穿概念与操作，稳定位置保留上下文，再逐步加入机制与解释。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样式：defense-navy / 正式答辩。适用：开题与中期、学位答辩。</a:t>
            </a:r>
          </a:p>
          <a:p>
            <a:r>
              <a:t>构图约定：研究问题、贡献与证据逐层对应，克制导航，正文面积优先留给论证和图表。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样式：defense-navy / 正式答辩。适用：开题与中期、学位答辩。</a:t>
            </a:r>
          </a:p>
          <a:p>
            <a:r>
              <a:t>构图约定：研究问题、贡献与证据逐层对应，克制导航，正文面积优先留给论证和图表。</a:t>
            </a:r>
          </a:p>
          <a:p>
            <a:r>
              <a:t>本页全部数值与流程仅用于比较样式，非论文数据或实际实验。正式稿必须替换内容和备注。</a:t>
            </a:r>
          </a:p>
          <a:p>
            <a:r>
              <a:t>讲解提示：先说明比较问题和控制条件，再沿证据阅读；两次运行不能据此声称稳定提升。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2764A5"/>
                </a:solidFill>
                <a:latin typeface="Arial"/>
                <a:ea typeface="Microsoft YaHei"/>
              </a:rPr>
              <a:t>01  清晰学术  /  方法示意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82B42"/>
                </a:solidFill>
                <a:latin typeface="Arial"/>
                <a:ea typeface="Microsoft YaHei"/>
              </a:rPr>
              <a:t>固定候选预算后，重排模块如何改变候选排序？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526276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26276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2764A5"/>
                </a:solidFill>
                <a:latin typeface="Arial"/>
                <a:ea typeface="Microsoft YaHei"/>
              </a:rPr>
              <a:t>研究问题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182B42"/>
                </a:solidFill>
                <a:latin typeface="Arial"/>
                <a:ea typeface="Microsoft YaHei"/>
              </a:rPr>
              <a:t>比较候选内排序，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182B42"/>
                </a:solidFill>
                <a:latin typeface="Arial"/>
                <a:ea typeface="Microsoft YaHei"/>
              </a:rPr>
              <a:t>不扩大候选集。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6908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526276"/>
                </a:solidFill>
                <a:latin typeface="Arial"/>
                <a:ea typeface="Microsoft YaHei"/>
              </a:rPr>
              <a:t>控制条件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526276"/>
                </a:solidFill>
                <a:latin typeface="Arial"/>
                <a:ea typeface="Microsoft YaHei"/>
              </a:rPr>
              <a:t>同一数据划分与候选数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2468880"/>
            <a:ext cx="1648205" cy="1078992"/>
          </a:xfrm>
          <a:prstGeom prst="rect">
            <a:avLst/>
          </a:prstGeom>
          <a:solidFill>
            <a:srgbClr val="E9EFF6"/>
          </a:solidFill>
          <a:ln w="10160">
            <a:solidFill>
              <a:srgbClr val="BBC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8" y="2578608"/>
            <a:ext cx="142874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182B42"/>
                </a:solidFill>
                <a:latin typeface="Arial"/>
                <a:ea typeface="Microsoft YaHei"/>
              </a:rPr>
              <a:t>查询 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8" y="3099816"/>
            <a:ext cx="14287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26276"/>
                </a:solidFill>
                <a:latin typeface="Arial"/>
                <a:ea typeface="Microsoft YaHei"/>
              </a:rPr>
              <a:t>输入问题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44718" y="2971800"/>
            <a:ext cx="246887" cy="0"/>
          </a:xfrm>
          <a:prstGeom prst="line">
            <a:avLst/>
          </a:prstGeom>
          <a:ln w="15240">
            <a:solidFill>
              <a:srgbClr val="2764A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019038" y="2468880"/>
            <a:ext cx="1648205" cy="1078992"/>
          </a:xfrm>
          <a:prstGeom prst="rect">
            <a:avLst/>
          </a:prstGeom>
          <a:solidFill>
            <a:srgbClr val="E9EFF6"/>
          </a:solidFill>
          <a:ln w="10160">
            <a:solidFill>
              <a:srgbClr val="BBC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8766" y="2578608"/>
            <a:ext cx="142874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182B42"/>
                </a:solidFill>
                <a:latin typeface="Arial"/>
                <a:ea typeface="Microsoft YaHei"/>
              </a:rPr>
              <a:t>候选集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8766" y="3099816"/>
            <a:ext cx="14287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26276"/>
                </a:solidFill>
                <a:latin typeface="Arial"/>
                <a:ea typeface="Microsoft YaHei"/>
              </a:rPr>
              <a:t>固定 K = 50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94675" y="2971800"/>
            <a:ext cx="246889" cy="0"/>
          </a:xfrm>
          <a:prstGeom prst="line">
            <a:avLst/>
          </a:prstGeom>
          <a:ln w="15240">
            <a:solidFill>
              <a:srgbClr val="2764A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968996" y="2468880"/>
            <a:ext cx="1648205" cy="1078992"/>
          </a:xfrm>
          <a:prstGeom prst="rect">
            <a:avLst/>
          </a:prstGeom>
          <a:solidFill>
            <a:srgbClr val="E9EFF6"/>
          </a:solidFill>
          <a:ln w="10160">
            <a:solidFill>
              <a:srgbClr val="2764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8723" y="2578608"/>
            <a:ext cx="142874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764A5"/>
                </a:solidFill>
                <a:latin typeface="Arial"/>
                <a:ea typeface="Microsoft YaHei"/>
              </a:rPr>
              <a:t>重排模块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8723" y="3099816"/>
            <a:ext cx="14287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26276"/>
                </a:solidFill>
                <a:latin typeface="Arial"/>
                <a:ea typeface="Microsoft YaHei"/>
              </a:rPr>
              <a:t>本轮唯一改动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44634" y="2971800"/>
            <a:ext cx="246888" cy="0"/>
          </a:xfrm>
          <a:prstGeom prst="line">
            <a:avLst/>
          </a:prstGeom>
          <a:ln w="15240">
            <a:solidFill>
              <a:srgbClr val="2764A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918954" y="2468880"/>
            <a:ext cx="1648205" cy="1078992"/>
          </a:xfrm>
          <a:prstGeom prst="rect">
            <a:avLst/>
          </a:prstGeom>
          <a:solidFill>
            <a:srgbClr val="E9EFF6"/>
          </a:solidFill>
          <a:ln w="10160">
            <a:solidFill>
              <a:srgbClr val="BBC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8682" y="2578608"/>
            <a:ext cx="142874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182B42"/>
                </a:solidFill>
                <a:latin typeface="Arial"/>
                <a:ea typeface="Microsoft YaHei"/>
              </a:rPr>
              <a:t>输出排序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28682" y="3099816"/>
            <a:ext cx="14287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26276"/>
                </a:solidFill>
                <a:latin typeface="Arial"/>
                <a:ea typeface="Microsoft YaHei"/>
              </a:rPr>
              <a:t>同一评测协议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114800"/>
            <a:ext cx="74980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182B42"/>
                </a:solidFill>
                <a:latin typeface="Arial"/>
                <a:ea typeface="Microsoft YaHei"/>
              </a:rPr>
              <a:t>只改变评分与排序；候选集保持不变。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2764A5"/>
                </a:solidFill>
                <a:latin typeface="Arial"/>
                <a:ea typeface="Microsoft YaHei"/>
              </a:rPr>
              <a:t>01  清晰学术  /  结果对照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82B42"/>
                </a:solidFill>
                <a:latin typeface="Arial"/>
                <a:ea typeface="Microsoft YaHei"/>
              </a:rPr>
              <a:t>验证集差异很小，仍需重复实验确认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526276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26276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26276"/>
                </a:solidFill>
                <a:latin typeface="Arial"/>
                <a:ea typeface="Microsoft YaHei"/>
              </a:rPr>
              <a:t>同一验证集与 K = 50；每种配置 2 次运行；以下均为演示数据。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743200"/>
          <a:ext cx="7498078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899769"/>
                <a:gridCol w="2549347"/>
                <a:gridCol w="2174443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118872" marR="45720" marT="118872" marB="36576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</a:p>
                  </a:txBody>
                  <a:tcPr marL="118872" marR="45720" marT="118872" marB="36576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Recall@10 ↑ (%)</a:t>
                      </a:r>
                    </a:p>
                  </a:txBody>
                  <a:tcPr marL="118872" marR="45720" marT="118872" marB="36576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P95 ↓ (ms)</a:t>
                      </a:r>
                    </a:p>
                  </a:txBody>
                  <a:tcPr marL="118872" marR="45720" marT="118872" marB="36576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71.2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18.4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71.8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18.5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764A5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71.5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21.6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764A5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71.6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21.7</a:t>
                      </a:r>
                    </a:p>
                  </a:txBody>
                  <a:tcPr marL="118872" marR="45720" marT="118872" marB="36576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640080" y="3337560"/>
            <a:ext cx="7498079" cy="0"/>
          </a:xfrm>
          <a:prstGeom prst="line">
            <a:avLst/>
          </a:prstGeom>
          <a:ln w="15240">
            <a:solidFill>
              <a:srgbClr val="BBC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" y="4526280"/>
            <a:ext cx="7498079" cy="0"/>
          </a:xfrm>
          <a:prstGeom prst="line">
            <a:avLst/>
          </a:prstGeom>
          <a:ln w="15240">
            <a:solidFill>
              <a:srgbClr val="BBC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49640" y="27889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2764A5"/>
                </a:solidFill>
                <a:latin typeface="Arial"/>
                <a:ea typeface="Microsoft YaHei"/>
              </a:rPr>
              <a:t>当前观察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38328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500" b="1">
                <a:solidFill>
                  <a:srgbClr val="182B42"/>
                </a:solidFill>
                <a:latin typeface="Arial"/>
                <a:ea typeface="Microsoft YaHei"/>
              </a:rPr>
              <a:t>效果方向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500" b="1">
                <a:solidFill>
                  <a:srgbClr val="182B42"/>
                </a:solidFill>
                <a:latin typeface="Arial"/>
                <a:ea typeface="Microsoft YaHei"/>
              </a:rPr>
              <a:t>并不一致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66344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82B42"/>
                </a:solidFill>
                <a:latin typeface="Arial"/>
                <a:ea typeface="Microsoft YaHei"/>
              </a:rPr>
              <a:t>需要增加重复，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82B42"/>
                </a:solidFill>
                <a:latin typeface="Arial"/>
                <a:ea typeface="Microsoft YaHei"/>
              </a:rPr>
              <a:t>再判断是否保留。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355C8C"/>
                </a:solidFill>
                <a:latin typeface="Arial"/>
                <a:ea typeface="Microsoft YaHei"/>
              </a:rPr>
              <a:t>02  黑白论文  /  方法示意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71717"/>
                </a:solidFill>
                <a:latin typeface="Arial"/>
                <a:ea typeface="Microsoft YaHei"/>
              </a:rPr>
              <a:t>固定候选预算后，重排模块如何改变候选排序？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535B66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35B66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535B66"/>
                </a:solidFill>
                <a:latin typeface="Arial"/>
                <a:ea typeface="Microsoft YaHei"/>
              </a:rPr>
              <a:t>方法示意｜从输入到输出，沿箭头阅读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9864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71717"/>
                </a:solidFill>
                <a:latin typeface="Arial"/>
                <a:ea typeface="Microsoft YaHei"/>
              </a:rPr>
              <a:t>查询 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1985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35B66"/>
                </a:solidFill>
                <a:latin typeface="Arial"/>
                <a:ea typeface="Microsoft YaHei"/>
              </a:rPr>
              <a:t>输入问题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1538" y="3291839"/>
            <a:ext cx="246888" cy="0"/>
          </a:xfrm>
          <a:prstGeom prst="line">
            <a:avLst/>
          </a:prstGeom>
          <a:ln w="15240">
            <a:solidFill>
              <a:srgbClr val="355C8C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45586" y="289864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71717"/>
                </a:solidFill>
                <a:latin typeface="Arial"/>
                <a:ea typeface="Microsoft YaHei"/>
              </a:rPr>
              <a:t>候选集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5586" y="341985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35B66"/>
                </a:solidFill>
                <a:latin typeface="Arial"/>
                <a:ea typeface="Microsoft YaHei"/>
              </a:rPr>
              <a:t>固定 K = 50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3291839"/>
            <a:ext cx="246888" cy="0"/>
          </a:xfrm>
          <a:prstGeom prst="line">
            <a:avLst/>
          </a:prstGeom>
          <a:ln w="15240">
            <a:solidFill>
              <a:srgbClr val="355C8C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41364" y="289864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355C8C"/>
                </a:solidFill>
                <a:latin typeface="Arial"/>
                <a:ea typeface="Microsoft YaHei"/>
              </a:rPr>
              <a:t>重排模块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1364" y="341985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35B66"/>
                </a:solidFill>
                <a:latin typeface="Arial"/>
                <a:ea typeface="Microsoft YaHei"/>
              </a:rPr>
              <a:t>本轮唯一改动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53094" y="3291839"/>
            <a:ext cx="246888" cy="0"/>
          </a:xfrm>
          <a:prstGeom prst="line">
            <a:avLst/>
          </a:prstGeom>
          <a:ln w="15240">
            <a:solidFill>
              <a:srgbClr val="355C8C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37141" y="289864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71717"/>
                </a:solidFill>
                <a:latin typeface="Arial"/>
                <a:ea typeface="Microsoft YaHei"/>
              </a:rPr>
              <a:t>输出排序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7141" y="341985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35B66"/>
                </a:solidFill>
                <a:latin typeface="Arial"/>
                <a:ea typeface="Microsoft YaHei"/>
              </a:rPr>
              <a:t>同一评测协议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4224528"/>
            <a:ext cx="10881360" cy="0"/>
          </a:xfrm>
          <a:prstGeom prst="line">
            <a:avLst/>
          </a:prstGeom>
          <a:ln w="15240">
            <a:solidFill>
              <a:srgbClr val="BFC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5720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300" b="0">
                <a:solidFill>
                  <a:srgbClr val="171717"/>
                </a:solidFill>
                <a:latin typeface="Arial"/>
                <a:ea typeface="Microsoft YaHei"/>
              </a:rPr>
              <a:t>研究问题：固定候选数后，排序变化是否值得额外延迟？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355C8C"/>
                </a:solidFill>
                <a:latin typeface="Arial"/>
                <a:ea typeface="Microsoft YaHei"/>
              </a:rPr>
              <a:t>02  黑白论文  /  结果对照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71717"/>
                </a:solidFill>
                <a:latin typeface="Arial"/>
                <a:ea typeface="Microsoft YaHei"/>
              </a:rPr>
              <a:t>验证集差异很小，仍需重复实验确认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535B66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35B66"/>
                </a:solidFill>
                <a:latin typeface="Arial"/>
                <a:ea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35B66"/>
                </a:solidFill>
                <a:latin typeface="Arial"/>
                <a:ea typeface="Microsoft YaHei"/>
              </a:rPr>
              <a:t>同一验证集与 K = 50；每种配置 2 次运行；以下均为演示数据。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697480"/>
          <a:ext cx="1069847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1283817"/>
                <a:gridCol w="3637483"/>
                <a:gridCol w="3102559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118872" marR="45720" marT="118872" marB="36576">
                    <a:solidFill>
                      <a:srgbClr val="F1F3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</a:p>
                  </a:txBody>
                  <a:tcPr marL="118872" marR="45720" marT="118872" marB="36576">
                    <a:solidFill>
                      <a:srgbClr val="F1F3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Recall@10 ↑ (%)</a:t>
                      </a:r>
                    </a:p>
                  </a:txBody>
                  <a:tcPr marL="118872" marR="45720" marT="118872" marB="36576">
                    <a:solidFill>
                      <a:srgbClr val="F1F3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P95 ↓ (ms)</a:t>
                      </a:r>
                    </a:p>
                  </a:txBody>
                  <a:tcPr marL="118872" marR="45720" marT="118872" marB="36576">
                    <a:solidFill>
                      <a:srgbClr val="F1F3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71.2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18.4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71.8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18.5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55C8C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71.5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21.6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55C8C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71.6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</a:rPr>
                        <a:t>21.7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731520" y="3291840"/>
            <a:ext cx="10698480" cy="0"/>
          </a:xfrm>
          <a:prstGeom prst="line">
            <a:avLst/>
          </a:prstGeom>
          <a:ln w="15240">
            <a:solidFill>
              <a:srgbClr val="BFC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480560"/>
            <a:ext cx="10698480" cy="0"/>
          </a:xfrm>
          <a:prstGeom prst="line">
            <a:avLst/>
          </a:prstGeom>
          <a:ln w="15240">
            <a:solidFill>
              <a:srgbClr val="BFC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900" b="1">
                <a:solidFill>
                  <a:srgbClr val="355C8C"/>
                </a:solidFill>
                <a:latin typeface="Arial"/>
                <a:ea typeface="Microsoft YaHei"/>
              </a:rPr>
              <a:t>下一步：增加重复，核对波动与延迟，再决定是否保留重排。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166B5B"/>
                </a:solidFill>
                <a:latin typeface="Arial"/>
                <a:ea typeface="Microsoft YaHei"/>
              </a:rPr>
              <a:t>03  实验手记  /  方法示意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83C36"/>
                </a:solidFill>
                <a:latin typeface="Arial"/>
                <a:ea typeface="Microsoft YaHei"/>
              </a:rPr>
              <a:t>固定候选预算后，重排模块如何改变候选排序？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4B665F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B665F"/>
                </a:solidFill>
                <a:latin typeface="Arial"/>
                <a:ea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66B5B"/>
                </a:solidFill>
                <a:latin typeface="Arial"/>
                <a:ea typeface="Microsoft YaHei"/>
              </a:rPr>
              <a:t>本轮改动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183C36"/>
                </a:solidFill>
                <a:latin typeface="Arial"/>
                <a:ea typeface="Microsoft YaHei"/>
              </a:rPr>
              <a:t>只加入重排，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183C36"/>
                </a:solidFill>
                <a:latin typeface="Arial"/>
                <a:ea typeface="Microsoft YaHei"/>
              </a:rPr>
              <a:t>其余设置保持不变。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690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4B665F"/>
                </a:solidFill>
                <a:latin typeface="Arial"/>
                <a:ea typeface="Microsoft YaHei"/>
              </a:rPr>
              <a:t>控制条件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4B665F"/>
                </a:solidFill>
                <a:latin typeface="Arial"/>
                <a:ea typeface="Microsoft YaHei"/>
              </a:rPr>
              <a:t>同一数据划分与候选数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48840"/>
            <a:ext cx="1625345" cy="1078992"/>
          </a:xfrm>
          <a:prstGeom prst="rect">
            <a:avLst/>
          </a:prstGeom>
          <a:solidFill>
            <a:srgbClr val="E8F1EC"/>
          </a:solidFill>
          <a:ln w="10160">
            <a:solidFill>
              <a:srgbClr val="B5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2258568"/>
            <a:ext cx="14058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183C36"/>
                </a:solidFill>
                <a:latin typeface="Arial"/>
                <a:ea typeface="Microsoft YaHei"/>
              </a:rPr>
              <a:t>查询 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2779776"/>
            <a:ext cx="14058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4B665F"/>
                </a:solidFill>
                <a:latin typeface="Arial"/>
                <a:ea typeface="Microsoft YaHei"/>
              </a:rPr>
              <a:t>输入问题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7578" y="2651760"/>
            <a:ext cx="246888" cy="0"/>
          </a:xfrm>
          <a:prstGeom prst="line">
            <a:avLst/>
          </a:prstGeom>
          <a:ln w="15240">
            <a:solidFill>
              <a:srgbClr val="166B5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041898" y="2148840"/>
            <a:ext cx="1625345" cy="1078992"/>
          </a:xfrm>
          <a:prstGeom prst="rect">
            <a:avLst/>
          </a:prstGeom>
          <a:solidFill>
            <a:srgbClr val="E8F1EC"/>
          </a:solidFill>
          <a:ln w="10160">
            <a:solidFill>
              <a:srgbClr val="B5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1626" y="2258568"/>
            <a:ext cx="14058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183C36"/>
                </a:solidFill>
                <a:latin typeface="Arial"/>
                <a:ea typeface="Microsoft YaHei"/>
              </a:rPr>
              <a:t>候选集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1626" y="2779776"/>
            <a:ext cx="14058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4B665F"/>
                </a:solidFill>
                <a:latin typeface="Arial"/>
                <a:ea typeface="Microsoft YaHei"/>
              </a:rPr>
              <a:t>固定 K = 50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94675" y="2651760"/>
            <a:ext cx="246889" cy="0"/>
          </a:xfrm>
          <a:prstGeom prst="line">
            <a:avLst/>
          </a:prstGeom>
          <a:ln w="15240">
            <a:solidFill>
              <a:srgbClr val="166B5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968996" y="2148840"/>
            <a:ext cx="1625345" cy="1078992"/>
          </a:xfrm>
          <a:prstGeom prst="rect">
            <a:avLst/>
          </a:prstGeom>
          <a:solidFill>
            <a:srgbClr val="E8F1EC"/>
          </a:solidFill>
          <a:ln w="10160">
            <a:solidFill>
              <a:srgbClr val="16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8723" y="2258568"/>
            <a:ext cx="14058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166B5B"/>
                </a:solidFill>
                <a:latin typeface="Arial"/>
                <a:ea typeface="Microsoft YaHei"/>
              </a:rPr>
              <a:t>重排模块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8723" y="2779776"/>
            <a:ext cx="14058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4B665F"/>
                </a:solidFill>
                <a:latin typeface="Arial"/>
                <a:ea typeface="Microsoft YaHei"/>
              </a:rPr>
              <a:t>本轮唯一改动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21774" y="2651760"/>
            <a:ext cx="246888" cy="0"/>
          </a:xfrm>
          <a:prstGeom prst="line">
            <a:avLst/>
          </a:prstGeom>
          <a:ln w="15240">
            <a:solidFill>
              <a:srgbClr val="166B5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896094" y="2148840"/>
            <a:ext cx="1625345" cy="1078992"/>
          </a:xfrm>
          <a:prstGeom prst="rect">
            <a:avLst/>
          </a:prstGeom>
          <a:solidFill>
            <a:srgbClr val="E8F1EC"/>
          </a:solidFill>
          <a:ln w="10160">
            <a:solidFill>
              <a:srgbClr val="B5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5822" y="2258568"/>
            <a:ext cx="14058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183C36"/>
                </a:solidFill>
                <a:latin typeface="Arial"/>
                <a:ea typeface="Microsoft YaHei"/>
              </a:rPr>
              <a:t>输出排序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5822" y="2779776"/>
            <a:ext cx="14058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4B665F"/>
                </a:solidFill>
                <a:latin typeface="Arial"/>
                <a:ea typeface="Microsoft YaHei"/>
              </a:rPr>
              <a:t>同一评测协议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0" y="3886200"/>
            <a:ext cx="7406640" cy="0"/>
          </a:xfrm>
          <a:prstGeom prst="line">
            <a:avLst/>
          </a:prstGeom>
          <a:ln w="15240">
            <a:solidFill>
              <a:srgbClr val="B5CF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0" y="4050791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166B5B"/>
                </a:solidFill>
                <a:latin typeface="Arial"/>
                <a:ea typeface="Microsoft YaHei"/>
              </a:rPr>
              <a:t>保持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050791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183C36"/>
                </a:solidFill>
                <a:latin typeface="Arial"/>
                <a:ea typeface="Microsoft YaHei"/>
              </a:rPr>
              <a:t>查询、候选集与评测脚本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14800" y="4782312"/>
            <a:ext cx="7406640" cy="0"/>
          </a:xfrm>
          <a:prstGeom prst="line">
            <a:avLst/>
          </a:prstGeom>
          <a:ln w="15240">
            <a:solidFill>
              <a:srgbClr val="B5CF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14800" y="4946904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166B5B"/>
                </a:solidFill>
                <a:latin typeface="Arial"/>
                <a:ea typeface="Microsoft YaHei"/>
              </a:rPr>
              <a:t>观察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946904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183C36"/>
                </a:solidFill>
                <a:latin typeface="Arial"/>
                <a:ea typeface="Microsoft YaHei"/>
              </a:rPr>
              <a:t>排序效果与额外推理延迟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166B5B"/>
                </a:solidFill>
                <a:latin typeface="Arial"/>
                <a:ea typeface="Microsoft YaHei"/>
              </a:rPr>
              <a:t>03  实验手记  /  结果对照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83C36"/>
                </a:solidFill>
                <a:latin typeface="Arial"/>
                <a:ea typeface="Microsoft YaHei"/>
              </a:rPr>
              <a:t>验证集差异很小，仍需重复实验确认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4B665F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B665F"/>
                </a:solidFill>
                <a:latin typeface="Arial"/>
                <a:ea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4B665F"/>
                </a:solidFill>
                <a:latin typeface="Arial"/>
                <a:ea typeface="Microsoft YaHei"/>
              </a:rPr>
              <a:t>同一验证集与 K = 50；每种配置 2 次运行；以下均为演示数据。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788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66B5B"/>
                </a:solidFill>
                <a:latin typeface="Arial"/>
                <a:ea typeface="Microsoft YaHei"/>
              </a:rPr>
              <a:t>观察与待解释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788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183C36"/>
                </a:solidFill>
                <a:latin typeface="Arial"/>
                <a:ea typeface="Microsoft YaHei"/>
              </a:rPr>
              <a:t>效果方向不一致，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183C36"/>
                </a:solidFill>
                <a:latin typeface="Arial"/>
                <a:ea typeface="Microsoft YaHei"/>
              </a:rPr>
              <a:t>延迟有所增加。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2788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4B665F"/>
                </a:solidFill>
                <a:latin typeface="Arial"/>
                <a:ea typeface="Microsoft YaHei"/>
              </a:rPr>
              <a:t>控制条件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4B665F"/>
                </a:solidFill>
                <a:latin typeface="Arial"/>
                <a:ea typeface="Microsoft YaHei"/>
              </a:rPr>
              <a:t>同一数据划分与候选数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0" y="2743200"/>
          <a:ext cx="768095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21715"/>
                <a:gridCol w="2611526"/>
                <a:gridCol w="2227478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118872" marR="45720" marT="118872" marB="36576">
                    <a:solidFill>
                      <a:srgbClr val="E8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</a:p>
                  </a:txBody>
                  <a:tcPr marL="118872" marR="45720" marT="118872" marB="36576">
                    <a:solidFill>
                      <a:srgbClr val="E8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Recall@10 ↑ (%)</a:t>
                      </a:r>
                    </a:p>
                  </a:txBody>
                  <a:tcPr marL="118872" marR="45720" marT="118872" marB="36576">
                    <a:solidFill>
                      <a:srgbClr val="E8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P95 ↓ (ms)</a:t>
                      </a:r>
                    </a:p>
                  </a:txBody>
                  <a:tcPr marL="118872" marR="45720" marT="118872" marB="36576">
                    <a:solidFill>
                      <a:srgbClr val="E8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71.2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18.4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71.8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18.5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66B5B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71.5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21.6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66B5B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71.6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3C36"/>
                          </a:solidFill>
                          <a:latin typeface="Arial"/>
                          <a:ea typeface="Microsoft YaHei"/>
                        </a:rPr>
                        <a:t>21.7</a:t>
                      </a:r>
                    </a:p>
                  </a:txBody>
                  <a:tcPr marL="118872" marR="45720" marT="118872" marB="36576">
                    <a:solidFill>
                      <a:srgbClr val="F6FA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3840480" y="3337560"/>
            <a:ext cx="7680960" cy="0"/>
          </a:xfrm>
          <a:prstGeom prst="line">
            <a:avLst/>
          </a:prstGeom>
          <a:ln w="15240">
            <a:solidFill>
              <a:srgbClr val="B5CF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4526280"/>
            <a:ext cx="7680960" cy="0"/>
          </a:xfrm>
          <a:prstGeom prst="line">
            <a:avLst/>
          </a:prstGeom>
          <a:ln w="15240">
            <a:solidFill>
              <a:srgbClr val="B5CF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4D4DA8"/>
                </a:solidFill>
                <a:latin typeface="Arial"/>
                <a:ea typeface="Microsoft YaHei"/>
              </a:rPr>
              <a:t>04  方法图解  /  方法示意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252C48"/>
                </a:solidFill>
                <a:latin typeface="Arial"/>
                <a:ea typeface="Microsoft YaHei"/>
              </a:rPr>
              <a:t>固定候选预算后，重排模块如何改变候选排序？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575D77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75D77"/>
                </a:solidFill>
                <a:latin typeface="Arial"/>
                <a:ea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575D77"/>
                </a:solidFill>
                <a:latin typeface="Arial"/>
                <a:ea typeface="Microsoft YaHei"/>
              </a:rPr>
              <a:t>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11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4D4DA8"/>
                </a:solidFill>
                <a:latin typeface="Arial"/>
                <a:ea typeface="Microsoft YaHei"/>
              </a:rPr>
              <a:t>候选内变换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575D77"/>
                </a:solidFill>
                <a:latin typeface="Arial"/>
                <a:ea typeface="Microsoft YaHei"/>
              </a:rPr>
              <a:t>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697480"/>
            <a:ext cx="5532120" cy="1645920"/>
          </a:xfrm>
          <a:prstGeom prst="rect">
            <a:avLst/>
          </a:prstGeom>
          <a:solidFill>
            <a:srgbClr val="EC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081528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252C48"/>
                </a:solidFill>
                <a:latin typeface="Arial"/>
                <a:ea typeface="Microsoft YaHei"/>
              </a:rPr>
              <a:t>查询 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602736"/>
            <a:ext cx="22517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75D77"/>
                </a:solidFill>
                <a:latin typeface="Arial"/>
                <a:ea typeface="Microsoft YaHei"/>
              </a:rPr>
              <a:t>输入问题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4398" y="3474720"/>
            <a:ext cx="246888" cy="0"/>
          </a:xfrm>
          <a:prstGeom prst="line">
            <a:avLst/>
          </a:prstGeom>
          <a:ln w="15240">
            <a:solidFill>
              <a:srgbClr val="4D4DA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68446" y="3081528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252C48"/>
                </a:solidFill>
                <a:latin typeface="Arial"/>
                <a:ea typeface="Microsoft YaHei"/>
              </a:rPr>
              <a:t>候选集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8446" y="3602736"/>
            <a:ext cx="22517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75D77"/>
                </a:solidFill>
                <a:latin typeface="Arial"/>
                <a:ea typeface="Microsoft YaHei"/>
              </a:rPr>
              <a:t>固定 K = 50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57316" y="3474720"/>
            <a:ext cx="246888" cy="0"/>
          </a:xfrm>
          <a:prstGeom prst="line">
            <a:avLst/>
          </a:prstGeom>
          <a:ln w="15240">
            <a:solidFill>
              <a:srgbClr val="4D4DA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41364" y="3081528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4D4DA8"/>
                </a:solidFill>
                <a:latin typeface="Arial"/>
                <a:ea typeface="Microsoft YaHei"/>
              </a:rPr>
              <a:t>重排模块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1364" y="3602736"/>
            <a:ext cx="22517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75D77"/>
                </a:solidFill>
                <a:latin typeface="Arial"/>
                <a:ea typeface="Microsoft YaHei"/>
              </a:rPr>
              <a:t>本轮唯一改动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30234" y="3474720"/>
            <a:ext cx="246888" cy="0"/>
          </a:xfrm>
          <a:prstGeom prst="line">
            <a:avLst/>
          </a:prstGeom>
          <a:ln w="15240">
            <a:solidFill>
              <a:srgbClr val="4D4DA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14282" y="3081528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252C48"/>
                </a:solidFill>
                <a:latin typeface="Arial"/>
                <a:ea typeface="Microsoft YaHei"/>
              </a:rPr>
              <a:t>输出排序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4282" y="3602736"/>
            <a:ext cx="22517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75D77"/>
                </a:solidFill>
                <a:latin typeface="Arial"/>
                <a:ea typeface="Microsoft YaHei"/>
              </a:rPr>
              <a:t>同一评测协议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463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300" b="0">
                <a:solidFill>
                  <a:srgbClr val="252C48"/>
                </a:solidFill>
                <a:latin typeface="Arial"/>
                <a:ea typeface="Microsoft YaHei"/>
              </a:rPr>
              <a:t>局部解释：重排模块接收固定候选集，仅更新候选的顺序。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4D4DA8"/>
                </a:solidFill>
                <a:latin typeface="Arial"/>
                <a:ea typeface="Microsoft YaHei"/>
              </a:rPr>
              <a:t>04  方法图解  /  结果对照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252C48"/>
                </a:solidFill>
                <a:latin typeface="Arial"/>
                <a:ea typeface="Microsoft YaHei"/>
              </a:rPr>
              <a:t>验证集差异很小，仍需重复实验确认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575D77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75D77"/>
                </a:solidFill>
                <a:latin typeface="Arial"/>
                <a:ea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75D77"/>
                </a:solidFill>
                <a:latin typeface="Arial"/>
                <a:ea typeface="Microsoft YaHei"/>
              </a:rPr>
              <a:t>同一验证集与 K = 50；每种配置 2 次运行；以下均为演示数据。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697480"/>
          <a:ext cx="1069847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1283817"/>
                <a:gridCol w="3637483"/>
                <a:gridCol w="3102559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118872" marR="45720" marT="118872" marB="36576">
                    <a:solidFill>
                      <a:srgbClr val="ECEE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</a:p>
                  </a:txBody>
                  <a:tcPr marL="118872" marR="45720" marT="118872" marB="36576">
                    <a:solidFill>
                      <a:srgbClr val="ECEE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Recall@10 ↑ (%)</a:t>
                      </a:r>
                    </a:p>
                  </a:txBody>
                  <a:tcPr marL="118872" marR="45720" marT="118872" marB="36576">
                    <a:solidFill>
                      <a:srgbClr val="ECEE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P95 ↓ (ms)</a:t>
                      </a:r>
                    </a:p>
                  </a:txBody>
                  <a:tcPr marL="118872" marR="45720" marT="118872" marB="36576">
                    <a:solidFill>
                      <a:srgbClr val="ECEE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71.2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18.4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71.8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18.5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4D4DA8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71.5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21.6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4D4DA8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71.6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C48"/>
                          </a:solidFill>
                          <a:latin typeface="Arial"/>
                          <a:ea typeface="Microsoft YaHei"/>
                        </a:rPr>
                        <a:t>21.7</a:t>
                      </a:r>
                    </a:p>
                  </a:txBody>
                  <a:tcPr marL="118872" marR="45720" marT="118872" marB="36576">
                    <a:solidFill>
                      <a:srgbClr val="F8F9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731520" y="3291840"/>
            <a:ext cx="10698480" cy="0"/>
          </a:xfrm>
          <a:prstGeom prst="line">
            <a:avLst/>
          </a:prstGeom>
          <a:ln w="15240">
            <a:solidFill>
              <a:srgbClr val="C4CA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480560"/>
            <a:ext cx="10698480" cy="0"/>
          </a:xfrm>
          <a:prstGeom prst="line">
            <a:avLst/>
          </a:prstGeom>
          <a:ln w="15240">
            <a:solidFill>
              <a:srgbClr val="C4CA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900" b="1">
                <a:solidFill>
                  <a:srgbClr val="4D4DA8"/>
                </a:solidFill>
                <a:latin typeface="Arial"/>
                <a:ea typeface="Microsoft YaHei"/>
              </a:rPr>
              <a:t>下一步：增加重复，核对波动与延迟，再决定是否保留重排。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245CA6"/>
                </a:solidFill>
                <a:latin typeface="Arial"/>
                <a:ea typeface="Microsoft YaHei"/>
              </a:rPr>
              <a:t>05  数据对照  /  方法示意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72B43"/>
                </a:solidFill>
                <a:latin typeface="Arial"/>
                <a:ea typeface="Microsoft YaHei"/>
              </a:rPr>
              <a:t>固定候选预算后，重排模块如何改变候选排序？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4D6177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D6177"/>
                </a:solidFill>
                <a:latin typeface="Arial"/>
                <a:ea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245CA6"/>
                </a:solidFill>
                <a:latin typeface="Arial"/>
                <a:ea typeface="Microsoft YaHei"/>
              </a:rPr>
              <a:t>比较必须先控制候选预算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172B43"/>
                </a:solidFill>
                <a:latin typeface="Arial"/>
                <a:ea typeface="Microsoft YaHei"/>
              </a:rPr>
              <a:t>固定 K = 50 与数据划分，分别观察效果和延迟。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77639"/>
            <a:ext cx="2494026" cy="1078992"/>
          </a:xfrm>
          <a:prstGeom prst="rect">
            <a:avLst/>
          </a:prstGeom>
          <a:solidFill>
            <a:srgbClr val="EAF0F8"/>
          </a:solidFill>
          <a:ln w="10160">
            <a:solidFill>
              <a:srgbClr val="BAC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08736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72B43"/>
                </a:solidFill>
                <a:latin typeface="Arial"/>
                <a:ea typeface="Microsoft YaHei"/>
              </a:rPr>
              <a:t>查询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608575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4D6177"/>
                </a:solidFill>
                <a:latin typeface="Arial"/>
                <a:ea typeface="Microsoft YaHei"/>
              </a:rPr>
              <a:t>输入问题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61538" y="4480559"/>
            <a:ext cx="246888" cy="0"/>
          </a:xfrm>
          <a:prstGeom prst="line">
            <a:avLst/>
          </a:prstGeom>
          <a:ln w="15240">
            <a:solidFill>
              <a:srgbClr val="245CA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35858" y="3977639"/>
            <a:ext cx="2494026" cy="1078992"/>
          </a:xfrm>
          <a:prstGeom prst="rect">
            <a:avLst/>
          </a:prstGeom>
          <a:solidFill>
            <a:srgbClr val="EAF0F8"/>
          </a:solidFill>
          <a:ln w="10160">
            <a:solidFill>
              <a:srgbClr val="BAC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5586" y="408736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72B43"/>
                </a:solidFill>
                <a:latin typeface="Arial"/>
                <a:ea typeface="Microsoft YaHei"/>
              </a:rPr>
              <a:t>候选集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5586" y="4608575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4D6177"/>
                </a:solidFill>
                <a:latin typeface="Arial"/>
                <a:ea typeface="Microsoft YaHei"/>
              </a:rPr>
              <a:t>固定 K = 50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57316" y="4480559"/>
            <a:ext cx="246888" cy="0"/>
          </a:xfrm>
          <a:prstGeom prst="line">
            <a:avLst/>
          </a:prstGeom>
          <a:ln w="15240">
            <a:solidFill>
              <a:srgbClr val="245CA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31636" y="3977639"/>
            <a:ext cx="2494026" cy="1078992"/>
          </a:xfrm>
          <a:prstGeom prst="rect">
            <a:avLst/>
          </a:prstGeom>
          <a:solidFill>
            <a:srgbClr val="EAF0F8"/>
          </a:solidFill>
          <a:ln w="10160">
            <a:solidFill>
              <a:srgbClr val="245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4" y="408736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245CA6"/>
                </a:solidFill>
                <a:latin typeface="Arial"/>
                <a:ea typeface="Microsoft YaHei"/>
              </a:rPr>
              <a:t>重排模块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1364" y="4608575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4D6177"/>
                </a:solidFill>
                <a:latin typeface="Arial"/>
                <a:ea typeface="Microsoft YaHei"/>
              </a:rPr>
              <a:t>本轮唯一改动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53094" y="4480559"/>
            <a:ext cx="246888" cy="0"/>
          </a:xfrm>
          <a:prstGeom prst="line">
            <a:avLst/>
          </a:prstGeom>
          <a:ln w="15240">
            <a:solidFill>
              <a:srgbClr val="245CA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027413" y="3977639"/>
            <a:ext cx="2494026" cy="1078992"/>
          </a:xfrm>
          <a:prstGeom prst="rect">
            <a:avLst/>
          </a:prstGeom>
          <a:solidFill>
            <a:srgbClr val="EAF0F8"/>
          </a:solidFill>
          <a:ln w="10160">
            <a:solidFill>
              <a:srgbClr val="BAC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7141" y="408736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72B43"/>
                </a:solidFill>
                <a:latin typeface="Arial"/>
                <a:ea typeface="Microsoft YaHei"/>
              </a:rPr>
              <a:t>输出排序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7141" y="4608575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4D6177"/>
                </a:solidFill>
                <a:latin typeface="Arial"/>
                <a:ea typeface="Microsoft YaHei"/>
              </a:rPr>
              <a:t>同一评测协议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245CA6"/>
                </a:solidFill>
                <a:latin typeface="Arial"/>
                <a:ea typeface="Microsoft YaHei"/>
              </a:rPr>
              <a:t>05  数据对照  /  结果对照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72B43"/>
                </a:solidFill>
                <a:latin typeface="Arial"/>
                <a:ea typeface="Microsoft YaHei"/>
              </a:rPr>
              <a:t>验证集差异很小，仍需重复实验确认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4D6177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D6177"/>
                </a:solidFill>
                <a:latin typeface="Arial"/>
                <a:ea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4D6177"/>
                </a:solidFill>
                <a:latin typeface="Arial"/>
                <a:ea typeface="Microsoft YaHei"/>
              </a:rPr>
              <a:t>同一验证集与 K = 50；每种配置 2 次运行；以下均为演示数据。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697480"/>
          <a:ext cx="1069847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1283817"/>
                <a:gridCol w="3637483"/>
                <a:gridCol w="3102559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118872" marR="45720" marT="118872" marB="36576">
                    <a:solidFill>
                      <a:srgbClr val="EAF0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</a:p>
                  </a:txBody>
                  <a:tcPr marL="118872" marR="45720" marT="118872" marB="36576">
                    <a:solidFill>
                      <a:srgbClr val="EAF0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Recall@10 ↑ (%)</a:t>
                      </a:r>
                    </a:p>
                  </a:txBody>
                  <a:tcPr marL="118872" marR="45720" marT="118872" marB="36576">
                    <a:solidFill>
                      <a:srgbClr val="EAF0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P95 ↓ (ms)</a:t>
                      </a:r>
                    </a:p>
                  </a:txBody>
                  <a:tcPr marL="118872" marR="45720" marT="118872" marB="36576">
                    <a:solidFill>
                      <a:srgbClr val="EAF0F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71.2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18.4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71.8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18.5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45CA6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71.5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21.6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45CA6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71.6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72B43"/>
                          </a:solidFill>
                          <a:latin typeface="Arial"/>
                          <a:ea typeface="Microsoft YaHei"/>
                        </a:rPr>
                        <a:t>21.7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731520" y="3291840"/>
            <a:ext cx="10698480" cy="0"/>
          </a:xfrm>
          <a:prstGeom prst="line">
            <a:avLst/>
          </a:prstGeom>
          <a:ln w="15240">
            <a:solidFill>
              <a:srgbClr val="BAC9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480560"/>
            <a:ext cx="10698480" cy="0"/>
          </a:xfrm>
          <a:prstGeom prst="line">
            <a:avLst/>
          </a:prstGeom>
          <a:ln w="15240">
            <a:solidFill>
              <a:srgbClr val="BAC9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900" b="1">
                <a:solidFill>
                  <a:srgbClr val="245CA6"/>
                </a:solidFill>
                <a:latin typeface="Arial"/>
                <a:ea typeface="Microsoft YaHei"/>
              </a:rPr>
              <a:t>下一步：增加重复，核对波动与延迟，再决定是否保留重排。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485C79"/>
                </a:solidFill>
                <a:latin typeface="Arial"/>
                <a:ea typeface="Microsoft YaHei"/>
              </a:rPr>
              <a:t>06  理论推导  /  方法示意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252A34"/>
                </a:solidFill>
                <a:latin typeface="Arial"/>
                <a:ea typeface="Microsoft YaHei"/>
              </a:rPr>
              <a:t>固定候选预算后，重排模块如何改变候选排序？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565E6C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65E6C"/>
                </a:solidFill>
                <a:latin typeface="Arial"/>
                <a:ea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565E6C"/>
                </a:solidFill>
                <a:latin typeface="Arial"/>
                <a:ea typeface="Microsoft YaHei"/>
              </a:rPr>
              <a:t>排序操作的作用域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200" b="1">
                <a:solidFill>
                  <a:srgbClr val="485C79"/>
                </a:solidFill>
                <a:latin typeface="Arial"/>
                <a:ea typeface="Microsoft YaHei"/>
              </a:rPr>
              <a:t>π = argsort sθ(q, 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252A34"/>
                </a:solidFill>
                <a:latin typeface="Arial"/>
                <a:ea typeface="Microsoft YaHei"/>
              </a:rPr>
              <a:t>d ∈ Cₖ(q)，候选集不变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252A34"/>
                </a:solidFill>
                <a:latin typeface="Arial"/>
                <a:ea typeface="Microsoft YaHei"/>
              </a:rPr>
              <a:t>只更新顺序，不改变候选来源。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09560" y="2103120"/>
            <a:ext cx="0" cy="3520440"/>
          </a:xfrm>
          <a:prstGeom prst="line">
            <a:avLst/>
          </a:prstGeom>
          <a:ln w="15240">
            <a:solidFill>
              <a:srgbClr val="C3C7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0" y="2423160"/>
            <a:ext cx="3200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252A34"/>
                </a:solidFill>
                <a:latin typeface="Arial"/>
                <a:ea typeface="Microsoft YaHei"/>
              </a:rPr>
              <a:t>q：输入查询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252A34"/>
                </a:solidFill>
                <a:latin typeface="Arial"/>
                <a:ea typeface="Microsoft YaHei"/>
              </a:rPr>
              <a:t>d：候选文档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252A34"/>
                </a:solidFill>
                <a:latin typeface="Arial"/>
                <a:ea typeface="Microsoft YaHei"/>
              </a:rPr>
              <a:t>K = 50：候选数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252A34"/>
                </a:solidFill>
                <a:latin typeface="Arial"/>
                <a:ea typeface="Microsoft YaHei"/>
              </a:rPr>
              <a:t>sθ：重排评分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166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65E6C"/>
                </a:solidFill>
                <a:latin typeface="Arial"/>
                <a:ea typeface="Microsoft YaHei"/>
              </a:rPr>
              <a:t>符号仅用于方法示意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485C79"/>
                </a:solidFill>
                <a:latin typeface="Arial"/>
                <a:ea typeface="Microsoft YaHei"/>
              </a:rPr>
              <a:t>06  理论推导  /  结果对照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252A34"/>
                </a:solidFill>
                <a:latin typeface="Arial"/>
                <a:ea typeface="Microsoft YaHei"/>
              </a:rPr>
              <a:t>验证集差异很小，仍需重复实验确认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565E6C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65E6C"/>
                </a:solidFill>
                <a:latin typeface="Arial"/>
                <a:ea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65E6C"/>
                </a:solidFill>
                <a:latin typeface="Arial"/>
                <a:ea typeface="Microsoft YaHei"/>
              </a:rPr>
              <a:t>同一验证集与 K = 50；每种配置 2 次运行；以下均为演示数据。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743200"/>
          <a:ext cx="7498078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899769"/>
                <a:gridCol w="2549347"/>
                <a:gridCol w="2174443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118872" marR="45720" marT="118872" marB="36576">
                    <a:solidFill>
                      <a:srgbClr val="EFF0F4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</a:p>
                  </a:txBody>
                  <a:tcPr marL="118872" marR="45720" marT="118872" marB="36576">
                    <a:solidFill>
                      <a:srgbClr val="EFF0F4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Recall@10 ↑ (%)</a:t>
                      </a:r>
                    </a:p>
                  </a:txBody>
                  <a:tcPr marL="118872" marR="45720" marT="118872" marB="36576">
                    <a:solidFill>
                      <a:srgbClr val="EFF0F4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P95 ↓ (ms)</a:t>
                      </a:r>
                    </a:p>
                  </a:txBody>
                  <a:tcPr marL="118872" marR="45720" marT="118872" marB="36576">
                    <a:solidFill>
                      <a:srgbClr val="EFF0F4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71.2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18.4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71.8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18.5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485C79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71.5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21.6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485C79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71.6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52A34"/>
                          </a:solidFill>
                          <a:latin typeface="Arial"/>
                          <a:ea typeface="Microsoft YaHei"/>
                        </a:rPr>
                        <a:t>21.7</a:t>
                      </a:r>
                    </a:p>
                  </a:txBody>
                  <a:tcPr marL="118872" marR="45720" marT="118872" marB="36576">
                    <a:solidFill>
                      <a:srgbClr val="FAFAF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640080" y="3337560"/>
            <a:ext cx="7498079" cy="0"/>
          </a:xfrm>
          <a:prstGeom prst="line">
            <a:avLst/>
          </a:prstGeom>
          <a:ln w="15240">
            <a:solidFill>
              <a:srgbClr val="C3C7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" y="4526280"/>
            <a:ext cx="7498079" cy="0"/>
          </a:xfrm>
          <a:prstGeom prst="line">
            <a:avLst/>
          </a:prstGeom>
          <a:ln w="15240">
            <a:solidFill>
              <a:srgbClr val="C3C7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49640" y="27889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485C79"/>
                </a:solidFill>
                <a:latin typeface="Arial"/>
                <a:ea typeface="Microsoft YaHei"/>
              </a:rPr>
              <a:t>当前观察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38328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500" b="1">
                <a:solidFill>
                  <a:srgbClr val="252A34"/>
                </a:solidFill>
                <a:latin typeface="Arial"/>
                <a:ea typeface="Microsoft YaHei"/>
              </a:rPr>
              <a:t>效果方向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500" b="1">
                <a:solidFill>
                  <a:srgbClr val="252A34"/>
                </a:solidFill>
                <a:latin typeface="Arial"/>
                <a:ea typeface="Microsoft YaHei"/>
              </a:rPr>
              <a:t>并不一致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66344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252A34"/>
                </a:solidFill>
                <a:latin typeface="Arial"/>
                <a:ea typeface="Microsoft YaHei"/>
              </a:rPr>
              <a:t>需要增加重复，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252A34"/>
                </a:solidFill>
                <a:latin typeface="Arial"/>
                <a:ea typeface="Microsoft YaHei"/>
              </a:rPr>
              <a:t>再判断是否保留。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67D4C0"/>
                </a:solidFill>
                <a:latin typeface="Arial"/>
                <a:ea typeface="Microsoft YaHei"/>
              </a:rPr>
              <a:t>07  深色系统  /  方法示意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3F6FA"/>
                </a:solidFill>
                <a:latin typeface="Arial"/>
                <a:ea typeface="Microsoft YaHei"/>
              </a:rPr>
              <a:t>固定候选预算后，重排模块如何改变候选排序？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BCC9D2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BCC9D2"/>
                </a:solidFill>
                <a:latin typeface="Arial"/>
                <a:ea typeface="Microsoft YaHe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0698480" cy="2560320"/>
          </a:xfrm>
          <a:prstGeom prst="rect">
            <a:avLst/>
          </a:prstGeom>
          <a:solidFill>
            <a:srgbClr val="22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5915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67D4C0"/>
                </a:solidFill>
                <a:latin typeface="Arial"/>
                <a:ea typeface="Microsoft YaHei"/>
              </a:rPr>
              <a:t>检索与重排路径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218688"/>
            <a:ext cx="21145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F3F6FA"/>
                </a:solidFill>
                <a:latin typeface="Arial"/>
                <a:ea typeface="Microsoft YaHei"/>
              </a:rPr>
              <a:t>查询 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739896"/>
            <a:ext cx="21145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BCC9D2"/>
                </a:solidFill>
                <a:latin typeface="Arial"/>
                <a:ea typeface="Microsoft YaHei"/>
              </a:rPr>
              <a:t>输入问题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21558" y="3611880"/>
            <a:ext cx="246888" cy="0"/>
          </a:xfrm>
          <a:prstGeom prst="line">
            <a:avLst/>
          </a:prstGeom>
          <a:ln w="15240">
            <a:solidFill>
              <a:srgbClr val="67D4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05606" y="3218688"/>
            <a:ext cx="21145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F3F6FA"/>
                </a:solidFill>
                <a:latin typeface="Arial"/>
                <a:ea typeface="Microsoft YaHei"/>
              </a:rPr>
              <a:t>候选集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5606" y="3739896"/>
            <a:ext cx="21145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BCC9D2"/>
                </a:solidFill>
                <a:latin typeface="Arial"/>
                <a:ea typeface="Microsoft YaHei"/>
              </a:rPr>
              <a:t>固定 K = 50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57316" y="3611880"/>
            <a:ext cx="246887" cy="0"/>
          </a:xfrm>
          <a:prstGeom prst="line">
            <a:avLst/>
          </a:prstGeom>
          <a:ln w="15240">
            <a:solidFill>
              <a:srgbClr val="67D4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41364" y="3218688"/>
            <a:ext cx="21145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67D4C0"/>
                </a:solidFill>
                <a:latin typeface="Arial"/>
                <a:ea typeface="Microsoft YaHei"/>
              </a:rPr>
              <a:t>重排模块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1364" y="3739896"/>
            <a:ext cx="21145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BCC9D2"/>
                </a:solidFill>
                <a:latin typeface="Arial"/>
                <a:ea typeface="Microsoft YaHei"/>
              </a:rPr>
              <a:t>本轮唯一改动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3074" y="3611880"/>
            <a:ext cx="246888" cy="0"/>
          </a:xfrm>
          <a:prstGeom prst="line">
            <a:avLst/>
          </a:prstGeom>
          <a:ln w="15240">
            <a:solidFill>
              <a:srgbClr val="67D4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77122" y="3218688"/>
            <a:ext cx="21145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F3F6FA"/>
                </a:solidFill>
                <a:latin typeface="Arial"/>
                <a:ea typeface="Microsoft YaHei"/>
              </a:rPr>
              <a:t>输出排序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7122" y="3739896"/>
            <a:ext cx="21145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BCC9D2"/>
                </a:solidFill>
                <a:latin typeface="Arial"/>
                <a:ea typeface="Microsoft YaHei"/>
              </a:rPr>
              <a:t>同一评测协议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300" b="0">
                <a:solidFill>
                  <a:srgbClr val="F3F6FA"/>
                </a:solidFill>
                <a:latin typeface="Arial"/>
                <a:ea typeface="Microsoft YaHei"/>
              </a:rPr>
              <a:t>当前关注重排模块；其他模块是控制条件。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67D4C0"/>
                </a:solidFill>
                <a:latin typeface="Arial"/>
                <a:ea typeface="Microsoft YaHei"/>
              </a:rPr>
              <a:t>07  深色系统  /  结果对照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3F6FA"/>
                </a:solidFill>
                <a:latin typeface="Arial"/>
                <a:ea typeface="Microsoft YaHei"/>
              </a:rPr>
              <a:t>验证集差异很小，仍需重复实验确认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BCC9D2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BCC9D2"/>
                </a:solidFill>
                <a:latin typeface="Arial"/>
                <a:ea typeface="Microsoft Ya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BCC9D2"/>
                </a:solidFill>
                <a:latin typeface="Arial"/>
                <a:ea typeface="Microsoft YaHei"/>
              </a:rPr>
              <a:t>同一验证集与 K = 50；每种配置 2 次运行；以下均为演示数据。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560320"/>
            <a:ext cx="10917936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697480"/>
          <a:ext cx="1069847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1283817"/>
                <a:gridCol w="3637483"/>
                <a:gridCol w="3102559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118872" marR="45720" marT="118872" marB="36576">
                    <a:solidFill>
                      <a:srgbClr val="EAF1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</a:p>
                  </a:txBody>
                  <a:tcPr marL="118872" marR="45720" marT="118872" marB="36576">
                    <a:solidFill>
                      <a:srgbClr val="EAF1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Recall@10 ↑ (%)</a:t>
                      </a:r>
                    </a:p>
                  </a:txBody>
                  <a:tcPr marL="118872" marR="45720" marT="118872" marB="36576">
                    <a:solidFill>
                      <a:srgbClr val="EAF1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P95 ↓ (ms)</a:t>
                      </a:r>
                    </a:p>
                  </a:txBody>
                  <a:tcPr marL="118872" marR="45720" marT="118872" marB="36576">
                    <a:solidFill>
                      <a:srgbClr val="EAF1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71.2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18.4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71.8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18.5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66B5B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71.5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21.6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66B5B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71.6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B42"/>
                          </a:solidFill>
                          <a:latin typeface="Arial"/>
                          <a:ea typeface="Microsoft YaHei"/>
                        </a:rPr>
                        <a:t>21.7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731520" y="3291840"/>
            <a:ext cx="10698480" cy="0"/>
          </a:xfrm>
          <a:prstGeom prst="line">
            <a:avLst/>
          </a:prstGeom>
          <a:ln w="15240">
            <a:solidFill>
              <a:srgbClr val="526B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480560"/>
            <a:ext cx="10698480" cy="0"/>
          </a:xfrm>
          <a:prstGeom prst="line">
            <a:avLst/>
          </a:prstGeom>
          <a:ln w="15240">
            <a:solidFill>
              <a:srgbClr val="526B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900" b="1">
                <a:solidFill>
                  <a:srgbClr val="67D4C0"/>
                </a:solidFill>
                <a:latin typeface="Arial"/>
                <a:ea typeface="Microsoft YaHei"/>
              </a:rPr>
              <a:t>下一步：增加重复，核对波动与延迟，再决定是否保留重排。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77518E"/>
                </a:solidFill>
                <a:latin typeface="Arial"/>
                <a:ea typeface="Microsoft YaHei"/>
              </a:rPr>
              <a:t>08  视觉证据  /  方法示意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322A3D"/>
                </a:solidFill>
                <a:latin typeface="Arial"/>
                <a:ea typeface="Microsoft YaHei"/>
              </a:rPr>
              <a:t>固定候选预算后，重排模块如何改变候选排序？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65596E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65596E"/>
                </a:solidFill>
                <a:latin typeface="Arial"/>
                <a:ea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65596E"/>
                </a:solidFill>
                <a:latin typeface="Arial"/>
                <a:ea typeface="Microsoft YaHei"/>
              </a:rPr>
              <a:t>同一候选、相同尺度；图形只表示候选身份，不是实验图。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322A3D"/>
                </a:solidFill>
                <a:latin typeface="Arial"/>
                <a:ea typeface="Microsoft YaHei"/>
              </a:rPr>
              <a:t>重排前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834640"/>
            <a:ext cx="2057400" cy="1143000"/>
          </a:xfrm>
          <a:prstGeom prst="rect">
            <a:avLst/>
          </a:prstGeom>
          <a:solidFill>
            <a:srgbClr val="F0EAF4"/>
          </a:solidFill>
          <a:ln w="10160">
            <a:solidFill>
              <a:srgbClr val="CF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33472" y="2980944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72384" y="2980944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11296" y="2980944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5021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322A3D"/>
                </a:solidFill>
                <a:latin typeface="Arial"/>
                <a:ea typeface="Microsoft YaHei"/>
              </a:rPr>
              <a:t>1 / 候选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834640"/>
            <a:ext cx="2057400" cy="1143000"/>
          </a:xfrm>
          <a:prstGeom prst="rect">
            <a:avLst/>
          </a:prstGeom>
          <a:solidFill>
            <a:srgbClr val="F0EAF4"/>
          </a:solidFill>
          <a:ln w="10160">
            <a:solidFill>
              <a:srgbClr val="775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10912" y="2980944"/>
            <a:ext cx="146304" cy="146304"/>
          </a:xfrm>
          <a:prstGeom prst="ellipse">
            <a:avLst/>
          </a:prstGeom>
          <a:solidFill>
            <a:srgbClr val="775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49824" y="3145536"/>
            <a:ext cx="146304" cy="146304"/>
          </a:xfrm>
          <a:prstGeom prst="ellipse">
            <a:avLst/>
          </a:prstGeom>
          <a:solidFill>
            <a:srgbClr val="775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88736" y="2980944"/>
            <a:ext cx="146304" cy="146304"/>
          </a:xfrm>
          <a:prstGeom prst="ellipse">
            <a:avLst/>
          </a:prstGeom>
          <a:solidFill>
            <a:srgbClr val="775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35021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77518E"/>
                </a:solidFill>
                <a:latin typeface="Arial"/>
                <a:ea typeface="Microsoft YaHei"/>
              </a:rPr>
              <a:t>2 / 候选 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2834640"/>
            <a:ext cx="2057400" cy="1143000"/>
          </a:xfrm>
          <a:prstGeom prst="rect">
            <a:avLst/>
          </a:prstGeom>
          <a:solidFill>
            <a:srgbClr val="F0EAF4"/>
          </a:solidFill>
          <a:ln w="10160">
            <a:solidFill>
              <a:srgbClr val="CF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88352" y="3145536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27264" y="2980944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66175" y="3145536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5021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322A3D"/>
                </a:solidFill>
                <a:latin typeface="Arial"/>
                <a:ea typeface="Microsoft YaHei"/>
              </a:rPr>
              <a:t>3 / 候选 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834640"/>
            <a:ext cx="2057400" cy="1143000"/>
          </a:xfrm>
          <a:prstGeom prst="rect">
            <a:avLst/>
          </a:prstGeom>
          <a:solidFill>
            <a:srgbClr val="F0EAF4"/>
          </a:solidFill>
          <a:ln w="10160">
            <a:solidFill>
              <a:srgbClr val="CF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65792" y="2980944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04704" y="2980944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43616" y="3145536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35021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322A3D"/>
                </a:solidFill>
                <a:latin typeface="Arial"/>
                <a:ea typeface="Microsoft YaHei"/>
              </a:rPr>
              <a:t>4 / 候选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09159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322A3D"/>
                </a:solidFill>
                <a:latin typeface="Arial"/>
                <a:ea typeface="Microsoft YaHei"/>
              </a:rPr>
              <a:t>重排后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4389120"/>
            <a:ext cx="2057400" cy="1143000"/>
          </a:xfrm>
          <a:prstGeom prst="rect">
            <a:avLst/>
          </a:prstGeom>
          <a:solidFill>
            <a:srgbClr val="F0EAF4"/>
          </a:solidFill>
          <a:ln w="10160">
            <a:solidFill>
              <a:srgbClr val="775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633472" y="4535424"/>
            <a:ext cx="146304" cy="146304"/>
          </a:xfrm>
          <a:prstGeom prst="ellipse">
            <a:avLst/>
          </a:prstGeom>
          <a:solidFill>
            <a:srgbClr val="775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072384" y="4700016"/>
            <a:ext cx="146304" cy="146304"/>
          </a:xfrm>
          <a:prstGeom prst="ellipse">
            <a:avLst/>
          </a:prstGeom>
          <a:solidFill>
            <a:srgbClr val="775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11296" y="4535424"/>
            <a:ext cx="146304" cy="146304"/>
          </a:xfrm>
          <a:prstGeom prst="ellipse">
            <a:avLst/>
          </a:prstGeom>
          <a:solidFill>
            <a:srgbClr val="775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3160" y="505663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77518E"/>
                </a:solidFill>
                <a:latin typeface="Arial"/>
                <a:ea typeface="Microsoft YaHei"/>
              </a:rPr>
              <a:t>1 / 候选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389120"/>
            <a:ext cx="2057400" cy="1143000"/>
          </a:xfrm>
          <a:prstGeom prst="rect">
            <a:avLst/>
          </a:prstGeom>
          <a:solidFill>
            <a:srgbClr val="F0EAF4"/>
          </a:solidFill>
          <a:ln w="10160">
            <a:solidFill>
              <a:srgbClr val="CF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0912" y="4535424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49824" y="4535424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88736" y="4535424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0600" y="505663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322A3D"/>
                </a:solidFill>
                <a:latin typeface="Arial"/>
                <a:ea typeface="Microsoft YaHei"/>
              </a:rPr>
              <a:t>2 / 候选 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4389120"/>
            <a:ext cx="2057400" cy="1143000"/>
          </a:xfrm>
          <a:prstGeom prst="rect">
            <a:avLst/>
          </a:prstGeom>
          <a:solidFill>
            <a:srgbClr val="F0EAF4"/>
          </a:solidFill>
          <a:ln w="10160">
            <a:solidFill>
              <a:srgbClr val="CF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88352" y="4700016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27264" y="4535424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66175" y="4700016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505663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322A3D"/>
                </a:solidFill>
                <a:latin typeface="Arial"/>
                <a:ea typeface="Microsoft YaHei"/>
              </a:rPr>
              <a:t>3 / 候选 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4389120"/>
            <a:ext cx="2057400" cy="1143000"/>
          </a:xfrm>
          <a:prstGeom prst="rect">
            <a:avLst/>
          </a:prstGeom>
          <a:solidFill>
            <a:srgbClr val="F0EAF4"/>
          </a:solidFill>
          <a:ln w="10160">
            <a:solidFill>
              <a:srgbClr val="CF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765792" y="4535424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04704" y="4535424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643616" y="4700016"/>
            <a:ext cx="146304" cy="146304"/>
          </a:xfrm>
          <a:prstGeom prst="ellipse">
            <a:avLst/>
          </a:prstGeom>
          <a:solidFill>
            <a:srgbClr val="655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55480" y="505663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322A3D"/>
                </a:solidFill>
                <a:latin typeface="Arial"/>
                <a:ea typeface="Microsoft YaHei"/>
              </a:rPr>
              <a:t>4 / 候选 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900" b="0">
                <a:solidFill>
                  <a:srgbClr val="77518E"/>
                </a:solidFill>
                <a:latin typeface="Arial"/>
                <a:ea typeface="Microsoft YaHei"/>
              </a:rPr>
              <a:t>示意：候选 B 的位置前移；是否改善检索质量仍需结果验证。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77518E"/>
                </a:solidFill>
                <a:latin typeface="Arial"/>
                <a:ea typeface="Microsoft YaHei"/>
              </a:rPr>
              <a:t>08  视觉证据  /  结果对照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322A3D"/>
                </a:solidFill>
                <a:latin typeface="Arial"/>
                <a:ea typeface="Microsoft YaHei"/>
              </a:rPr>
              <a:t>验证集差异很小，仍需重复实验确认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65596E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65596E"/>
                </a:solidFill>
                <a:latin typeface="Arial"/>
                <a:ea typeface="Microsoft YaHe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65596E"/>
                </a:solidFill>
                <a:latin typeface="Arial"/>
                <a:ea typeface="Microsoft YaHei"/>
              </a:rPr>
              <a:t>同一验证集与 K = 50；每种配置 2 次运行；以下均为演示数据。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697480"/>
          <a:ext cx="1069847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1283817"/>
                <a:gridCol w="3637483"/>
                <a:gridCol w="3102559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118872" marR="45720" marT="118872" marB="36576">
                    <a:solidFill>
                      <a:srgbClr val="F0EAF4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</a:p>
                  </a:txBody>
                  <a:tcPr marL="118872" marR="45720" marT="118872" marB="36576">
                    <a:solidFill>
                      <a:srgbClr val="F0EAF4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Recall@10 ↑ (%)</a:t>
                      </a:r>
                    </a:p>
                  </a:txBody>
                  <a:tcPr marL="118872" marR="45720" marT="118872" marB="36576">
                    <a:solidFill>
                      <a:srgbClr val="F0EAF4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P95 ↓ (ms)</a:t>
                      </a:r>
                    </a:p>
                  </a:txBody>
                  <a:tcPr marL="118872" marR="45720" marT="118872" marB="36576">
                    <a:solidFill>
                      <a:srgbClr val="F0EAF4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71.2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18.4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71.8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18.5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77518E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71.5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21.6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77518E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71.6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22A3D"/>
                          </a:solidFill>
                          <a:latin typeface="Arial"/>
                          <a:ea typeface="Microsoft YaHei"/>
                        </a:rPr>
                        <a:t>21.7</a:t>
                      </a:r>
                    </a:p>
                  </a:txBody>
                  <a:tcPr marL="118872" marR="45720" marT="118872" marB="36576">
                    <a:solidFill>
                      <a:srgbClr val="FAF8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731520" y="3291840"/>
            <a:ext cx="10698480" cy="0"/>
          </a:xfrm>
          <a:prstGeom prst="line">
            <a:avLst/>
          </a:prstGeom>
          <a:ln w="15240">
            <a:solidFill>
              <a:srgbClr val="CFBF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480560"/>
            <a:ext cx="10698480" cy="0"/>
          </a:xfrm>
          <a:prstGeom prst="line">
            <a:avLst/>
          </a:prstGeom>
          <a:ln w="15240">
            <a:solidFill>
              <a:srgbClr val="CFBF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900" b="1">
                <a:solidFill>
                  <a:srgbClr val="77518E"/>
                </a:solidFill>
                <a:latin typeface="Arial"/>
                <a:ea typeface="Microsoft YaHei"/>
              </a:rPr>
              <a:t>下一步：增加重复，核对波动与延迟，再决定是否保留重排。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3E703E"/>
                </a:solidFill>
                <a:latin typeface="Arial"/>
                <a:ea typeface="Microsoft YaHei"/>
              </a:rPr>
              <a:t>09  生命科学  /  方法示意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283B2A"/>
                </a:solidFill>
                <a:latin typeface="Arial"/>
                <a:ea typeface="Microsoft YaHei"/>
              </a:rPr>
              <a:t>固定候选预算后，重排模块如何改变候选排序？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566751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66751"/>
                </a:solidFill>
                <a:latin typeface="Arial"/>
                <a:ea typeface="Microsoft YaHe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300" b="1">
                <a:solidFill>
                  <a:srgbClr val="283B2A"/>
                </a:solidFill>
                <a:latin typeface="Arial"/>
                <a:ea typeface="Microsoft YaHei"/>
              </a:rPr>
              <a:t>处理条件：固定候选集，只改变候选内排序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1868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283B2A"/>
                </a:solidFill>
                <a:latin typeface="Arial"/>
                <a:ea typeface="Microsoft YaHei"/>
              </a:rPr>
              <a:t>查询 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3989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66751"/>
                </a:solidFill>
                <a:latin typeface="Arial"/>
                <a:ea typeface="Microsoft YaHei"/>
              </a:rPr>
              <a:t>输入问题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1538" y="3611880"/>
            <a:ext cx="246888" cy="0"/>
          </a:xfrm>
          <a:prstGeom prst="line">
            <a:avLst/>
          </a:prstGeom>
          <a:ln w="15240">
            <a:solidFill>
              <a:srgbClr val="3E703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45586" y="321868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283B2A"/>
                </a:solidFill>
                <a:latin typeface="Arial"/>
                <a:ea typeface="Microsoft YaHei"/>
              </a:rPr>
              <a:t>候选集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5586" y="373989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66751"/>
                </a:solidFill>
                <a:latin typeface="Arial"/>
                <a:ea typeface="Microsoft YaHei"/>
              </a:rPr>
              <a:t>固定 K = 50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3611880"/>
            <a:ext cx="246888" cy="0"/>
          </a:xfrm>
          <a:prstGeom prst="line">
            <a:avLst/>
          </a:prstGeom>
          <a:ln w="15240">
            <a:solidFill>
              <a:srgbClr val="3E703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41364" y="321868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3E703E"/>
                </a:solidFill>
                <a:latin typeface="Arial"/>
                <a:ea typeface="Microsoft YaHei"/>
              </a:rPr>
              <a:t>重排模块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1364" y="373989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66751"/>
                </a:solidFill>
                <a:latin typeface="Arial"/>
                <a:ea typeface="Microsoft YaHei"/>
              </a:rPr>
              <a:t>本轮唯一改动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53094" y="3611880"/>
            <a:ext cx="246888" cy="0"/>
          </a:xfrm>
          <a:prstGeom prst="line">
            <a:avLst/>
          </a:prstGeom>
          <a:ln w="15240">
            <a:solidFill>
              <a:srgbClr val="3E703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37141" y="321868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283B2A"/>
                </a:solidFill>
                <a:latin typeface="Arial"/>
                <a:ea typeface="Microsoft YaHei"/>
              </a:rPr>
              <a:t>输出排序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7141" y="373989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66751"/>
                </a:solidFill>
                <a:latin typeface="Arial"/>
                <a:ea typeface="Microsoft YaHei"/>
              </a:rPr>
              <a:t>同一评测协议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4681728"/>
            <a:ext cx="5120640" cy="0"/>
          </a:xfrm>
          <a:prstGeom prst="line">
            <a:avLst/>
          </a:prstGeom>
          <a:ln w="15240">
            <a:solidFill>
              <a:srgbClr val="BECB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892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3E703E"/>
                </a:solidFill>
                <a:latin typeface="Arial"/>
                <a:ea typeface="Microsoft YaHei"/>
              </a:rPr>
              <a:t>观察效果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1324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283B2A"/>
                </a:solidFill>
                <a:latin typeface="Arial"/>
                <a:ea typeface="Microsoft YaHei"/>
              </a:rPr>
              <a:t>同一验证集上的检索指标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4681728"/>
            <a:ext cx="5120640" cy="0"/>
          </a:xfrm>
          <a:prstGeom prst="line">
            <a:avLst/>
          </a:prstGeom>
          <a:ln w="15240">
            <a:solidFill>
              <a:srgbClr val="BECB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0" y="4892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3E703E"/>
                </a:solidFill>
                <a:latin typeface="Arial"/>
                <a:ea typeface="Microsoft YaHei"/>
              </a:rPr>
              <a:t>观察代价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41324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283B2A"/>
                </a:solidFill>
                <a:latin typeface="Arial"/>
                <a:ea typeface="Microsoft YaHei"/>
              </a:rPr>
              <a:t>同一协议下的推理延迟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3E703E"/>
                </a:solidFill>
                <a:latin typeface="Arial"/>
                <a:ea typeface="Microsoft YaHei"/>
              </a:rPr>
              <a:t>09  生命科学  /  结果对照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283B2A"/>
                </a:solidFill>
                <a:latin typeface="Arial"/>
                <a:ea typeface="Microsoft YaHei"/>
              </a:rPr>
              <a:t>验证集差异很小，仍需重复实验确认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566751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66751"/>
                </a:solidFill>
                <a:latin typeface="Arial"/>
                <a:ea typeface="Microsoft YaHe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66751"/>
                </a:solidFill>
                <a:latin typeface="Arial"/>
                <a:ea typeface="Microsoft YaHei"/>
              </a:rPr>
              <a:t>同一验证集与 K = 50；每种配置 2 次运行；以下均为演示数据。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697480"/>
          <a:ext cx="1069847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1283817"/>
                <a:gridCol w="3637483"/>
                <a:gridCol w="3102559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118872" marR="45720" marT="118872" marB="36576">
                    <a:solidFill>
                      <a:srgbClr val="EAF0E4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</a:p>
                  </a:txBody>
                  <a:tcPr marL="118872" marR="45720" marT="118872" marB="36576">
                    <a:solidFill>
                      <a:srgbClr val="EAF0E4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Recall@10 ↑ (%)</a:t>
                      </a:r>
                    </a:p>
                  </a:txBody>
                  <a:tcPr marL="118872" marR="45720" marT="118872" marB="36576">
                    <a:solidFill>
                      <a:srgbClr val="EAF0E4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P95 ↓ (ms)</a:t>
                      </a:r>
                    </a:p>
                  </a:txBody>
                  <a:tcPr marL="118872" marR="45720" marT="118872" marB="36576">
                    <a:solidFill>
                      <a:srgbClr val="EAF0E4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71.2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18.4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71.8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18.5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E703E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71.5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21.6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E703E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71.6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83B2A"/>
                          </a:solidFill>
                          <a:latin typeface="Arial"/>
                          <a:ea typeface="Microsoft YaHei"/>
                        </a:rPr>
                        <a:t>21.7</a:t>
                      </a:r>
                    </a:p>
                  </a:txBody>
                  <a:tcPr marL="118872" marR="45720" marT="118872" marB="36576">
                    <a:solidFill>
                      <a:srgbClr val="F7FA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731520" y="3291840"/>
            <a:ext cx="10698480" cy="0"/>
          </a:xfrm>
          <a:prstGeom prst="line">
            <a:avLst/>
          </a:prstGeom>
          <a:ln w="15240">
            <a:solidFill>
              <a:srgbClr val="BECB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480560"/>
            <a:ext cx="10698480" cy="0"/>
          </a:xfrm>
          <a:prstGeom prst="line">
            <a:avLst/>
          </a:prstGeom>
          <a:ln w="15240">
            <a:solidFill>
              <a:srgbClr val="BECB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900" b="1">
                <a:solidFill>
                  <a:srgbClr val="3E703E"/>
                </a:solidFill>
                <a:latin typeface="Arial"/>
                <a:ea typeface="Microsoft YaHei"/>
              </a:rPr>
              <a:t>下一步：增加重复，核对波动与延迟，再决定是否保留重排。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9B4F39"/>
                </a:solidFill>
                <a:latin typeface="Arial"/>
                <a:ea typeface="Microsoft YaHei"/>
              </a:rPr>
              <a:t>10  人文实证  /  方法示意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382F2A"/>
                </a:solidFill>
                <a:latin typeface="Arial"/>
                <a:ea typeface="Microsoft YaHei"/>
              </a:rPr>
              <a:t>固定候选预算后，重排模块如何改变候选排序？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6E6057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6E6057"/>
                </a:solidFill>
                <a:latin typeface="Arial"/>
                <a:ea typeface="Microsoft YaHe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886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9B4F39"/>
                </a:solidFill>
                <a:latin typeface="Arial"/>
                <a:ea typeface="Microsoft YaHei"/>
              </a:rPr>
              <a:t>方法要回答的问题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3886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382F2A"/>
                </a:solidFill>
                <a:latin typeface="Arial"/>
                <a:ea typeface="Microsoft YaHei"/>
              </a:rPr>
              <a:t>额外排序成本，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382F2A"/>
                </a:solidFill>
                <a:latin typeface="Arial"/>
                <a:ea typeface="Microsoft YaHei"/>
              </a:rPr>
              <a:t>换来了什么？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886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6E6057"/>
                </a:solidFill>
                <a:latin typeface="Arial"/>
                <a:ea typeface="Microsoft YaHei"/>
              </a:rPr>
              <a:t>控制条件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6E6057"/>
                </a:solidFill>
                <a:latin typeface="Arial"/>
                <a:ea typeface="Microsoft YaHei"/>
              </a:rPr>
              <a:t>同一数据划分与候选数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2011680"/>
            <a:ext cx="5394960" cy="713232"/>
          </a:xfrm>
          <a:prstGeom prst="rect">
            <a:avLst/>
          </a:prstGeom>
          <a:solidFill>
            <a:srgbClr val="F3EBE3"/>
          </a:solidFill>
          <a:ln w="10160">
            <a:solidFill>
              <a:srgbClr val="D1B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79008" y="2121408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382F2A"/>
                </a:solidFill>
                <a:latin typeface="Arial"/>
                <a:ea typeface="Microsoft YaHei"/>
              </a:rPr>
              <a:t>查询 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9008" y="2450592"/>
            <a:ext cx="5175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6E6057"/>
                </a:solidFill>
                <a:latin typeface="Arial"/>
                <a:ea typeface="Microsoft YaHei"/>
              </a:rPr>
              <a:t>输入问题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66760" y="2743200"/>
            <a:ext cx="0" cy="173736"/>
          </a:xfrm>
          <a:prstGeom prst="line">
            <a:avLst/>
          </a:prstGeom>
          <a:ln w="15240">
            <a:solidFill>
              <a:srgbClr val="9B4F3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0" y="2935224"/>
            <a:ext cx="5394960" cy="713232"/>
          </a:xfrm>
          <a:prstGeom prst="rect">
            <a:avLst/>
          </a:prstGeom>
          <a:solidFill>
            <a:srgbClr val="F3EBE3"/>
          </a:solidFill>
          <a:ln w="10160">
            <a:solidFill>
              <a:srgbClr val="D1B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79008" y="3044952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382F2A"/>
                </a:solidFill>
                <a:latin typeface="Arial"/>
                <a:ea typeface="Microsoft YaHei"/>
              </a:rPr>
              <a:t>候选集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8" y="3374136"/>
            <a:ext cx="5175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6E6057"/>
                </a:solidFill>
                <a:latin typeface="Arial"/>
                <a:ea typeface="Microsoft YaHei"/>
              </a:rPr>
              <a:t>固定 K = 50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66760" y="3666744"/>
            <a:ext cx="0" cy="173736"/>
          </a:xfrm>
          <a:prstGeom prst="line">
            <a:avLst/>
          </a:prstGeom>
          <a:ln w="15240">
            <a:solidFill>
              <a:srgbClr val="9B4F3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669280" y="3858768"/>
            <a:ext cx="5394960" cy="713232"/>
          </a:xfrm>
          <a:prstGeom prst="rect">
            <a:avLst/>
          </a:prstGeom>
          <a:solidFill>
            <a:srgbClr val="F3EBE3"/>
          </a:solidFill>
          <a:ln w="10160">
            <a:solidFill>
              <a:srgbClr val="9B4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79008" y="3968496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9B4F39"/>
                </a:solidFill>
                <a:latin typeface="Arial"/>
                <a:ea typeface="Microsoft YaHei"/>
              </a:rPr>
              <a:t>重排模块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9008" y="4297680"/>
            <a:ext cx="5175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6E6057"/>
                </a:solidFill>
                <a:latin typeface="Arial"/>
                <a:ea typeface="Microsoft YaHei"/>
              </a:rPr>
              <a:t>本轮唯一改动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66760" y="4590288"/>
            <a:ext cx="0" cy="173736"/>
          </a:xfrm>
          <a:prstGeom prst="line">
            <a:avLst/>
          </a:prstGeom>
          <a:ln w="15240">
            <a:solidFill>
              <a:srgbClr val="9B4F3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669280" y="4782312"/>
            <a:ext cx="5394960" cy="713232"/>
          </a:xfrm>
          <a:prstGeom prst="rect">
            <a:avLst/>
          </a:prstGeom>
          <a:solidFill>
            <a:srgbClr val="F3EBE3"/>
          </a:solidFill>
          <a:ln w="10160">
            <a:solidFill>
              <a:srgbClr val="D1B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9008" y="4892040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382F2A"/>
                </a:solidFill>
                <a:latin typeface="Arial"/>
                <a:ea typeface="Microsoft YaHei"/>
              </a:rPr>
              <a:t>输出排序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8" y="5221224"/>
            <a:ext cx="5175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6E6057"/>
                </a:solidFill>
                <a:latin typeface="Arial"/>
                <a:ea typeface="Microsoft YaHei"/>
              </a:rPr>
              <a:t>同一评测协议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9B4F39"/>
                </a:solidFill>
                <a:latin typeface="Arial"/>
                <a:ea typeface="Microsoft YaHei"/>
              </a:rPr>
              <a:t>10  人文实证  /  结果对照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382F2A"/>
                </a:solidFill>
                <a:latin typeface="Arial"/>
                <a:ea typeface="Microsoft YaHei"/>
              </a:rPr>
              <a:t>验证集差异很小，仍需重复实验确认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6E6057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6E6057"/>
                </a:solidFill>
                <a:latin typeface="Arial"/>
                <a:ea typeface="Microsoft YaHe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6E6057"/>
                </a:solidFill>
                <a:latin typeface="Arial"/>
                <a:ea typeface="Microsoft YaHei"/>
              </a:rPr>
              <a:t>同一验证集与 K = 50；每种配置 2 次运行；以下均为演示数据。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743200"/>
          <a:ext cx="7498078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899769"/>
                <a:gridCol w="2549347"/>
                <a:gridCol w="2174443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118872" marR="45720" marT="118872" marB="36576">
                    <a:solidFill>
                      <a:srgbClr val="F3EBE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</a:p>
                  </a:txBody>
                  <a:tcPr marL="118872" marR="45720" marT="118872" marB="36576">
                    <a:solidFill>
                      <a:srgbClr val="F3EBE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Recall@10 ↑ (%)</a:t>
                      </a:r>
                    </a:p>
                  </a:txBody>
                  <a:tcPr marL="118872" marR="45720" marT="118872" marB="36576">
                    <a:solidFill>
                      <a:srgbClr val="F3EBE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P95 ↓ (ms)</a:t>
                      </a:r>
                    </a:p>
                  </a:txBody>
                  <a:tcPr marL="118872" marR="45720" marT="118872" marB="36576">
                    <a:solidFill>
                      <a:srgbClr val="F3EBE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71.2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18.4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71.8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18.5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9B4F39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71.5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21.6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9B4F39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71.6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82F2A"/>
                          </a:solidFill>
                          <a:latin typeface="Arial"/>
                          <a:ea typeface="Microsoft YaHei"/>
                        </a:rPr>
                        <a:t>21.7</a:t>
                      </a:r>
                    </a:p>
                  </a:txBody>
                  <a:tcPr marL="118872" marR="45720" marT="118872" marB="36576">
                    <a:solidFill>
                      <a:srgbClr val="FCF9F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640080" y="3337560"/>
            <a:ext cx="7498079" cy="0"/>
          </a:xfrm>
          <a:prstGeom prst="line">
            <a:avLst/>
          </a:prstGeom>
          <a:ln w="15240">
            <a:solidFill>
              <a:srgbClr val="D1BF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" y="4526280"/>
            <a:ext cx="7498079" cy="0"/>
          </a:xfrm>
          <a:prstGeom prst="line">
            <a:avLst/>
          </a:prstGeom>
          <a:ln w="15240">
            <a:solidFill>
              <a:srgbClr val="D1BF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49640" y="27889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9B4F39"/>
                </a:solidFill>
                <a:latin typeface="Arial"/>
                <a:ea typeface="Microsoft YaHei"/>
              </a:rPr>
              <a:t>当前观察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38328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500" b="1">
                <a:solidFill>
                  <a:srgbClr val="382F2A"/>
                </a:solidFill>
                <a:latin typeface="Arial"/>
                <a:ea typeface="Microsoft YaHei"/>
              </a:rPr>
              <a:t>效果方向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500" b="1">
                <a:solidFill>
                  <a:srgbClr val="382F2A"/>
                </a:solidFill>
                <a:latin typeface="Arial"/>
                <a:ea typeface="Microsoft YaHei"/>
              </a:rPr>
              <a:t>并不一致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66344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382F2A"/>
                </a:solidFill>
                <a:latin typeface="Arial"/>
                <a:ea typeface="Microsoft YaHei"/>
              </a:rPr>
              <a:t>需要增加重复，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382F2A"/>
                </a:solidFill>
                <a:latin typeface="Arial"/>
                <a:ea typeface="Microsoft YaHei"/>
              </a:rPr>
              <a:t>再判断是否保留。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91630A"/>
                </a:solidFill>
                <a:latin typeface="Arial"/>
                <a:ea typeface="Microsoft YaHei"/>
              </a:rPr>
              <a:t>11  概念教学  /  方法示意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3A3324"/>
                </a:solidFill>
                <a:latin typeface="Arial"/>
                <a:ea typeface="Microsoft YaHei"/>
              </a:rPr>
              <a:t>固定候选预算后，重排模块如何改变候选排序？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6D624C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6D624C"/>
                </a:solidFill>
                <a:latin typeface="Arial"/>
                <a:ea typeface="Microsoft YaHe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10881360" cy="731520"/>
          </a:xfrm>
          <a:prstGeom prst="rect">
            <a:avLst/>
          </a:prstGeom>
          <a:solidFill>
            <a:srgbClr val="F4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21992"/>
            <a:ext cx="10378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3A3324"/>
                </a:solidFill>
                <a:latin typeface="Arial"/>
                <a:ea typeface="Microsoft YaHei"/>
              </a:rPr>
              <a:t>贯穿示例：同一个问题，比较重排前后的候选顺序。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74720"/>
            <a:ext cx="2494026" cy="1078992"/>
          </a:xfrm>
          <a:prstGeom prst="rect">
            <a:avLst/>
          </a:prstGeom>
          <a:solidFill>
            <a:srgbClr val="F4EEDC"/>
          </a:solidFill>
          <a:ln w="10160">
            <a:solidFill>
              <a:srgbClr val="D2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8444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3A3324"/>
                </a:solidFill>
                <a:latin typeface="Arial"/>
                <a:ea typeface="Microsoft YaHei"/>
              </a:rPr>
              <a:t>查询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10565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6D624C"/>
                </a:solidFill>
                <a:latin typeface="Arial"/>
                <a:ea typeface="Microsoft YaHei"/>
              </a:rPr>
              <a:t>输入问题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61538" y="3977639"/>
            <a:ext cx="246888" cy="0"/>
          </a:xfrm>
          <a:prstGeom prst="line">
            <a:avLst/>
          </a:prstGeom>
          <a:ln w="15240">
            <a:solidFill>
              <a:srgbClr val="91630A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35858" y="3474720"/>
            <a:ext cx="2494026" cy="1078992"/>
          </a:xfrm>
          <a:prstGeom prst="rect">
            <a:avLst/>
          </a:prstGeom>
          <a:solidFill>
            <a:srgbClr val="F4EEDC"/>
          </a:solidFill>
          <a:ln w="10160">
            <a:solidFill>
              <a:srgbClr val="D2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5586" y="358444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3A3324"/>
                </a:solidFill>
                <a:latin typeface="Arial"/>
                <a:ea typeface="Microsoft YaHei"/>
              </a:rPr>
              <a:t>候选集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5586" y="410565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6D624C"/>
                </a:solidFill>
                <a:latin typeface="Arial"/>
                <a:ea typeface="Microsoft YaHei"/>
              </a:rPr>
              <a:t>固定 K = 50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57316" y="3977639"/>
            <a:ext cx="246888" cy="0"/>
          </a:xfrm>
          <a:prstGeom prst="line">
            <a:avLst/>
          </a:prstGeom>
          <a:ln w="15240">
            <a:solidFill>
              <a:srgbClr val="91630A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31636" y="3474720"/>
            <a:ext cx="2494026" cy="1078992"/>
          </a:xfrm>
          <a:prstGeom prst="rect">
            <a:avLst/>
          </a:prstGeom>
          <a:solidFill>
            <a:srgbClr val="F4EEDC"/>
          </a:solidFill>
          <a:ln w="10160">
            <a:solidFill>
              <a:srgbClr val="916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4" y="358444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91630A"/>
                </a:solidFill>
                <a:latin typeface="Arial"/>
                <a:ea typeface="Microsoft YaHei"/>
              </a:rPr>
              <a:t>重排模块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1364" y="410565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6D624C"/>
                </a:solidFill>
                <a:latin typeface="Arial"/>
                <a:ea typeface="Microsoft YaHei"/>
              </a:rPr>
              <a:t>本轮唯一改动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53094" y="3977639"/>
            <a:ext cx="246888" cy="0"/>
          </a:xfrm>
          <a:prstGeom prst="line">
            <a:avLst/>
          </a:prstGeom>
          <a:ln w="15240">
            <a:solidFill>
              <a:srgbClr val="91630A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027413" y="3474720"/>
            <a:ext cx="2494026" cy="1078992"/>
          </a:xfrm>
          <a:prstGeom prst="rect">
            <a:avLst/>
          </a:prstGeom>
          <a:solidFill>
            <a:srgbClr val="F4EEDC"/>
          </a:solidFill>
          <a:ln w="10160">
            <a:solidFill>
              <a:srgbClr val="D2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7141" y="358444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3A3324"/>
                </a:solidFill>
                <a:latin typeface="Arial"/>
                <a:ea typeface="Microsoft YaHei"/>
              </a:rPr>
              <a:t>输出排序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7141" y="410565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6D624C"/>
                </a:solidFill>
                <a:latin typeface="Arial"/>
                <a:ea typeface="Microsoft YaHei"/>
              </a:rPr>
              <a:t>同一评测协议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6636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3A3324"/>
                </a:solidFill>
                <a:latin typeface="Arial"/>
                <a:ea typeface="Microsoft YaHei"/>
              </a:rPr>
              <a:t>解释时保留输入，逐步加入“候选集”和“评分”的含义。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91630A"/>
                </a:solidFill>
                <a:latin typeface="Arial"/>
                <a:ea typeface="Microsoft YaHei"/>
              </a:rPr>
              <a:t>11  概念教学  /  结果对照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3A3324"/>
                </a:solidFill>
                <a:latin typeface="Arial"/>
                <a:ea typeface="Microsoft YaHei"/>
              </a:rPr>
              <a:t>验证集差异很小，仍需重复实验确认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6D624C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6D624C"/>
                </a:solidFill>
                <a:latin typeface="Arial"/>
                <a:ea typeface="Microsoft YaHe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6D624C"/>
                </a:solidFill>
                <a:latin typeface="Arial"/>
                <a:ea typeface="Microsoft YaHei"/>
              </a:rPr>
              <a:t>同一验证集与 K = 50；每种配置 2 次运行；以下均为演示数据。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697480"/>
          <a:ext cx="1069847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1283817"/>
                <a:gridCol w="3637483"/>
                <a:gridCol w="3102559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118872" marR="45720" marT="118872" marB="36576">
                    <a:solidFill>
                      <a:srgbClr val="F4EE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</a:p>
                  </a:txBody>
                  <a:tcPr marL="118872" marR="45720" marT="118872" marB="36576">
                    <a:solidFill>
                      <a:srgbClr val="F4EE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Recall@10 ↑ (%)</a:t>
                      </a:r>
                    </a:p>
                  </a:txBody>
                  <a:tcPr marL="118872" marR="45720" marT="118872" marB="36576">
                    <a:solidFill>
                      <a:srgbClr val="F4EE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P95 ↓ (ms)</a:t>
                      </a:r>
                    </a:p>
                  </a:txBody>
                  <a:tcPr marL="118872" marR="45720" marT="118872" marB="36576">
                    <a:solidFill>
                      <a:srgbClr val="F4EE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71.2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18.4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71.8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18.5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91630A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71.5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21.6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91630A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71.6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A3324"/>
                          </a:solidFill>
                          <a:latin typeface="Arial"/>
                          <a:ea typeface="Microsoft YaHei"/>
                        </a:rPr>
                        <a:t>21.7</a:t>
                      </a:r>
                    </a:p>
                  </a:txBody>
                  <a:tcPr marL="118872" marR="45720" marT="118872" marB="36576">
                    <a:solidFill>
                      <a:srgbClr val="FFFCF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731520" y="3291840"/>
            <a:ext cx="10698480" cy="0"/>
          </a:xfrm>
          <a:prstGeom prst="line">
            <a:avLst/>
          </a:prstGeom>
          <a:ln w="15240">
            <a:solidFill>
              <a:srgbClr val="D2C7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480560"/>
            <a:ext cx="10698480" cy="0"/>
          </a:xfrm>
          <a:prstGeom prst="line">
            <a:avLst/>
          </a:prstGeom>
          <a:ln w="15240">
            <a:solidFill>
              <a:srgbClr val="D2C7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900" b="1">
                <a:solidFill>
                  <a:srgbClr val="91630A"/>
                </a:solidFill>
                <a:latin typeface="Arial"/>
                <a:ea typeface="Microsoft YaHei"/>
              </a:rPr>
              <a:t>下一步：增加重复，核对波动与延迟，再决定是否保留重排。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243F68"/>
                </a:solidFill>
                <a:latin typeface="Arial"/>
                <a:ea typeface="Microsoft YaHei"/>
              </a:rPr>
              <a:t>12  正式答辩  /  方法示意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D46"/>
                </a:solidFill>
                <a:latin typeface="Arial"/>
                <a:ea typeface="Microsoft YaHei"/>
              </a:rPr>
              <a:t>固定候选预算后，重排模块如何改变候选排序？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526078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26078"/>
                </a:solidFill>
                <a:latin typeface="Arial"/>
                <a:ea typeface="Microsoft YaHe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243F68"/>
                </a:solidFill>
                <a:latin typeface="Arial"/>
                <a:ea typeface="Microsoft YaHei"/>
              </a:rPr>
              <a:t>研究问题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0116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500" b="1">
                <a:solidFill>
                  <a:srgbClr val="1D2D46"/>
                </a:solidFill>
                <a:latin typeface="Arial"/>
                <a:ea typeface="Microsoft YaHei"/>
              </a:rPr>
              <a:t>固定预算下的排序质量与效率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6120"/>
            <a:ext cx="2494026" cy="1078992"/>
          </a:xfrm>
          <a:prstGeom prst="rect">
            <a:avLst/>
          </a:prstGeom>
          <a:solidFill>
            <a:srgbClr val="EDF1F6"/>
          </a:solidFill>
          <a:ln w="10160">
            <a:solidFill>
              <a:srgbClr val="BC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5584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D46"/>
                </a:solidFill>
                <a:latin typeface="Arial"/>
                <a:ea typeface="Microsoft YaHei"/>
              </a:rPr>
              <a:t>查询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87705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26078"/>
                </a:solidFill>
                <a:latin typeface="Arial"/>
                <a:ea typeface="Microsoft YaHei"/>
              </a:rPr>
              <a:t>输入问题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61538" y="3749039"/>
            <a:ext cx="246888" cy="0"/>
          </a:xfrm>
          <a:prstGeom prst="line">
            <a:avLst/>
          </a:prstGeom>
          <a:ln w="15240">
            <a:solidFill>
              <a:srgbClr val="243F6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35858" y="3246120"/>
            <a:ext cx="2494026" cy="1078992"/>
          </a:xfrm>
          <a:prstGeom prst="rect">
            <a:avLst/>
          </a:prstGeom>
          <a:solidFill>
            <a:srgbClr val="EDF1F6"/>
          </a:solidFill>
          <a:ln w="10160">
            <a:solidFill>
              <a:srgbClr val="BC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5586" y="335584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D46"/>
                </a:solidFill>
                <a:latin typeface="Arial"/>
                <a:ea typeface="Microsoft YaHei"/>
              </a:rPr>
              <a:t>候选集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5586" y="387705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26078"/>
                </a:solidFill>
                <a:latin typeface="Arial"/>
                <a:ea typeface="Microsoft YaHei"/>
              </a:rPr>
              <a:t>固定 K = 50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57316" y="3749039"/>
            <a:ext cx="246888" cy="0"/>
          </a:xfrm>
          <a:prstGeom prst="line">
            <a:avLst/>
          </a:prstGeom>
          <a:ln w="15240">
            <a:solidFill>
              <a:srgbClr val="243F6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31636" y="3246120"/>
            <a:ext cx="2494026" cy="1078992"/>
          </a:xfrm>
          <a:prstGeom prst="rect">
            <a:avLst/>
          </a:prstGeom>
          <a:solidFill>
            <a:srgbClr val="EDF1F6"/>
          </a:solidFill>
          <a:ln w="10160">
            <a:solidFill>
              <a:srgbClr val="243F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4" y="335584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243F68"/>
                </a:solidFill>
                <a:latin typeface="Arial"/>
                <a:ea typeface="Microsoft YaHei"/>
              </a:rPr>
              <a:t>重排模块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1364" y="387705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26078"/>
                </a:solidFill>
                <a:latin typeface="Arial"/>
                <a:ea typeface="Microsoft YaHei"/>
              </a:rPr>
              <a:t>本轮唯一改动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53094" y="3749039"/>
            <a:ext cx="246888" cy="0"/>
          </a:xfrm>
          <a:prstGeom prst="line">
            <a:avLst/>
          </a:prstGeom>
          <a:ln w="15240">
            <a:solidFill>
              <a:srgbClr val="243F6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027413" y="3246120"/>
            <a:ext cx="2494026" cy="1078992"/>
          </a:xfrm>
          <a:prstGeom prst="rect">
            <a:avLst/>
          </a:prstGeom>
          <a:solidFill>
            <a:srgbClr val="EDF1F6"/>
          </a:solidFill>
          <a:ln w="10160">
            <a:solidFill>
              <a:srgbClr val="BC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7141" y="3355848"/>
            <a:ext cx="22745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D46"/>
                </a:solidFill>
                <a:latin typeface="Arial"/>
                <a:ea typeface="Microsoft YaHei"/>
              </a:rPr>
              <a:t>输出排序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7141" y="3877056"/>
            <a:ext cx="227457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26078"/>
                </a:solidFill>
                <a:latin typeface="Arial"/>
                <a:ea typeface="Microsoft YaHei"/>
              </a:rPr>
              <a:t>同一评测协议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243F68"/>
                </a:solidFill>
                <a:latin typeface="Arial"/>
                <a:ea typeface="Microsoft YaHei"/>
              </a:rPr>
              <a:t>验证路径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892040"/>
            <a:ext cx="8778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1D2D46"/>
                </a:solidFill>
                <a:latin typeface="Arial"/>
                <a:ea typeface="Microsoft YaHei"/>
              </a:rPr>
              <a:t>保持评测条件一致，再比较效果与延迟。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243F68"/>
                </a:solidFill>
                <a:latin typeface="Arial"/>
                <a:ea typeface="Microsoft YaHei"/>
              </a:rPr>
              <a:t>12  正式答辩  /  结果对照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D46"/>
                </a:solidFill>
                <a:latin typeface="Arial"/>
                <a:ea typeface="Microsoft YaHei"/>
              </a:rPr>
              <a:t>验证集差异很小，仍需重复实验确认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526078"/>
                </a:solidFill>
                <a:latin typeface="Arial"/>
                <a:ea typeface="Microsoft YaHei"/>
              </a:rPr>
              <a:t>样式预览 · 演示数据与示意流程，非研究结论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26078"/>
                </a:solidFill>
                <a:latin typeface="Arial"/>
                <a:ea typeface="Microsoft YaHe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26078"/>
                </a:solidFill>
                <a:latin typeface="Arial"/>
                <a:ea typeface="Microsoft YaHei"/>
              </a:rPr>
              <a:t>同一验证集与 K = 50；每种配置 2 次运行；以下均为演示数据。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743200"/>
          <a:ext cx="7498078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899769"/>
                <a:gridCol w="2549347"/>
                <a:gridCol w="2174443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marL="118872" marR="45720" marT="118872" marB="36576">
                    <a:solidFill>
                      <a:srgbClr val="EDF1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Seed</a:t>
                      </a:r>
                    </a:p>
                  </a:txBody>
                  <a:tcPr marL="118872" marR="45720" marT="118872" marB="36576">
                    <a:solidFill>
                      <a:srgbClr val="EDF1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Recall@10 ↑ (%)</a:t>
                      </a:r>
                    </a:p>
                  </a:txBody>
                  <a:tcPr marL="118872" marR="45720" marT="118872" marB="36576">
                    <a:solidFill>
                      <a:srgbClr val="EDF1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P95 ↓ (ms)</a:t>
                      </a:r>
                    </a:p>
                  </a:txBody>
                  <a:tcPr marL="118872" marR="45720" marT="118872" marB="36576">
                    <a:solidFill>
                      <a:srgbClr val="EDF1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71.2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18.4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基线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71.8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18.5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43F68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11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71.5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21.6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43F68"/>
                          </a:solidFill>
                          <a:latin typeface="Arial"/>
                          <a:ea typeface="Microsoft YaHei"/>
                        </a:rPr>
                        <a:t>加重排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29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71.6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D2D46"/>
                          </a:solidFill>
                          <a:latin typeface="Arial"/>
                          <a:ea typeface="Microsoft YaHei"/>
                        </a:rPr>
                        <a:t>21.7</a:t>
                      </a:r>
                    </a:p>
                  </a:txBody>
                  <a:tcPr marL="118872" marR="45720" marT="118872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640080" y="3337560"/>
            <a:ext cx="7498079" cy="0"/>
          </a:xfrm>
          <a:prstGeom prst="line">
            <a:avLst/>
          </a:prstGeom>
          <a:ln w="15240">
            <a:solidFill>
              <a:srgbClr val="BCC7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" y="4526280"/>
            <a:ext cx="7498079" cy="0"/>
          </a:xfrm>
          <a:prstGeom prst="line">
            <a:avLst/>
          </a:prstGeom>
          <a:ln w="15240">
            <a:solidFill>
              <a:srgbClr val="BCC7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49640" y="27889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243F68"/>
                </a:solidFill>
                <a:latin typeface="Arial"/>
                <a:ea typeface="Microsoft YaHei"/>
              </a:rPr>
              <a:t>当前观察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38328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500" b="1">
                <a:solidFill>
                  <a:srgbClr val="1D2D46"/>
                </a:solidFill>
                <a:latin typeface="Arial"/>
                <a:ea typeface="Microsoft YaHei"/>
              </a:rPr>
              <a:t>效果方向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500" b="1">
                <a:solidFill>
                  <a:srgbClr val="1D2D46"/>
                </a:solidFill>
                <a:latin typeface="Arial"/>
                <a:ea typeface="Microsoft YaHei"/>
              </a:rPr>
              <a:t>并不一致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66344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D46"/>
                </a:solidFill>
                <a:latin typeface="Arial"/>
                <a:ea typeface="Microsoft YaHei"/>
              </a:rPr>
              <a:t>需要增加重复，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D46"/>
                </a:solidFill>
                <a:latin typeface="Arial"/>
                <a:ea typeface="Microsoft YaHei"/>
              </a:rPr>
              <a:t>再判断是否保留。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研究生汇报样式样张 · 方法与结果</dc:title>
  <dc:subject>演示数据与示意流程，不是研究结论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